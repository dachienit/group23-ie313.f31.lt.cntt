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70" r:id="rId10"/>
    <p:sldId id="264" r:id="rId11"/>
    <p:sldId id="265"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E383D934-5C18-1C0C-7F27-4F6FD977BAAC}">
          <p14:sldIdLst>
            <p14:sldId id="256"/>
            <p14:sldId id="257"/>
            <p14:sldId id="258"/>
            <p14:sldId id="259"/>
            <p14:sldId id="260"/>
          </p14:sldIdLst>
        </p14:section>
        <p14:section name="Phân tích thăm dò" id="{6AFF8027-7F6C-6A9C-E0BD-68A9EEE34E0E}">
          <p14:sldIdLst>
            <p14:sldId id="261"/>
            <p14:sldId id="262"/>
            <p14:sldId id="263"/>
            <p14:sldId id="270"/>
          </p14:sldIdLst>
        </p14:section>
        <p14:section name="Mô hình và kết luận" id="{F19FF8CF-4D83-1E80-7655-B8A574EE29FD}">
          <p14:sldIdLst>
            <p14:sldId id="264"/>
            <p14:sldId id="265"/>
            <p14:sldId id="266"/>
            <p14:sldId id="267"/>
          </p14:sldIdLst>
        </p14:section>
        <p14:section name="Demo" id="{B6DB8AF8-908A-DB26-FA5B-CAEDD3979A7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9851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[TV1 · 0:00–0:25 · 25 giây]</a:t>
            </a:r>
          </a:p>
          <a:p>
            <a:endParaRPr/>
          </a:p>
          <a:p>
            <a:r>
              <a:t>Kính chào thầy. Nhóm 23 xin trình bày đồ án môn Phân tích và trực quan dữ liệu với đề tài phân tích nhu cầu thuê xe đạp công cộng tại Seoul. Câu hỏi của nhóm là: khi nào và trong điều kiện thời tiết nào người dân thuê xe nhiều nhất, để đơn vị vận hành chuẩn bị xe cho đúng.</a:t>
            </a:r>
          </a:p>
          <a:p>
            <a:endParaRPr/>
          </a:p>
          <a:p>
            <a:r>
              <a:t>CÂU CHUYỂN: Trước khi vào nội dung, mời các thành viên tự giới thiệu.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[Cả nhóm · 0:25–1:00 · 35 giây, mỗi người khoảng 12 giây]</a:t>
            </a:r>
          </a:p>
          <a:p>
            <a:endParaRPr/>
          </a:p>
          <a:p>
            <a:r>
              <a:t>TV1: Em là Nguyễn Văn Hiền, mã số sinh viên 25410208. Em phụ trách chuẩn bị dữ liệu và tiền xử lý.</a:t>
            </a:r>
          </a:p>
          <a:p>
            <a:endParaRPr/>
          </a:p>
          <a:p>
            <a:r>
              <a:t>TV2: Em là Nguyễn Đắc Hiển, mã số sinh viên 25410206. Em phụ trách phân tích thăm dò và trực quan hóa.</a:t>
            </a:r>
          </a:p>
          <a:p>
            <a:endParaRPr/>
          </a:p>
          <a:p>
            <a:r>
              <a:t>TV3: Em là Phạm Phước Hão, mã số sinh viên 25410201. Em phụ trách mô hình hồi quy, kết quả và kết luận.</a:t>
            </a:r>
          </a:p>
          <a:p>
            <a:endParaRPr/>
          </a:p>
          <a:p>
            <a:r>
              <a:t>CÂU CHUYỂN: (TV1) Em xin giới thiệu mục tiêu và bộ dữ liệu của nhóm.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[TV1 · 1:00–1:45 · 45 giây]</a:t>
            </a:r>
          </a:p>
          <a:p>
            <a:endParaRPr/>
          </a:p>
          <a:p>
            <a:r>
              <a:t>Mục tiêu của nhóm là tìm hiểu những yếu tố nào liên quan đến số lượt thuê xe đạp mỗi giờ tại Seoul, như thời điểm trong ngày, mùa và thời tiết. Nhóm làm theo ba bước: chuẩn bị dữ liệu, phân tích thăm dò bằng thống kê, biểu đồ và kiểm định ANOVA, rồi xây dựng ba mô hình hồi quy. Về kết quả, nhu cầu có hai đỉnh lúc tám giờ và mười tám giờ, mùa Hạ cao gấp hơn bốn lần mùa Đông, và mô hình tốt nhất giải thích được khoảng sáu mươi sáu phần trăm biến thiên. Về minh bạch, dữ liệu là bộ dữ liệu công khai của UCI; nhóm có tham khảo công cụ AI để so sánh các thuật toán hồi quy và hoàn thiện cách trình bày, còn toàn bộ mã nguồn, số liệu và nhận xét đều do nhóm tự chạy, kiểm tra và chịu trách nhiệm.</a:t>
            </a:r>
          </a:p>
          <a:p>
            <a:endParaRPr/>
          </a:p>
          <a:p>
            <a:r>
              <a:t>CÂU CHUYỂN: Tiếp theo em mô tả bộ dữ liệu.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[TV1 · 1:45–2:30 · 45 giây]</a:t>
            </a:r>
          </a:p>
          <a:p>
            <a:endParaRPr/>
          </a:p>
          <a:p>
            <a:r>
              <a:t>Bộ dữ liệu Seoul Bike Sharing Demand ghi lại số xe được thuê theo từng giờ trong một năm, từ tháng 12 năm 2017 đến tháng 11 năm 2018, tổng cộng tám nghìn bảy trăm sáu mươi dòng và mười bốn cột. Biến cần dự đoán là số lượt thuê mỗi giờ, trung bình khoảng bảy trăm lượt, thấp nhất là không và cao nhất là ba nghìn năm trăm năm mươi sáu lượt. Các cột còn lại gồm thời gian, tám biến thời tiết như nhiệt độ, độ ẩm, lượng mưa, và ba biến phân loại là mùa, ngày lễ và tình trạng hệ thống. Nhóm kiểm tra bằng pandas: không có giá trị khuyết, không có dòng trùng, và mỗi ngày đều đủ hai mươi bốn giờ.</a:t>
            </a:r>
          </a:p>
          <a:p>
            <a:endParaRPr/>
          </a:p>
          <a:p>
            <a:r>
              <a:t>CÂU CHUYỂN: Em trình bày cách nhóm xử lý dữ liệu trước khi phân tích.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[TV1 · 2:30–3:15 · 45 giây]</a:t>
            </a:r>
          </a:p>
          <a:p>
            <a:endParaRPr/>
          </a:p>
          <a:p>
            <a:r>
              <a:t>Tiền xử lý có ba việc chính. Một, đọc file bằng pandas với mã hóa cp1252 để giữ ký hiệu độ C, chuyển cột ngày về đúng kiểu và tạo thêm ba biến là tháng, thứ trong tuần và cuối tuần. Hai, phát hiện ngoại lệ bằng quy tắc IQR: có một trăm năm mươi tám giờ vượt ngưỡng, nhóm giữ lại vì đó là nhu cầu thật vào giờ cao điểm. Ba, quan trọng nhất: hai trăm chín mươi lăm giờ hệ thống ngừng hoạt động đều có không lượt thuê, và không giờ nào đang hoạt động mà bằng không, nên đây là do đóng cửa chứ không phải do nhu cầu. Nhóm loại các giờ này, còn tám nghìn bốn trăm sáu mươi lăm giờ để phân tích.</a:t>
            </a:r>
          </a:p>
          <a:p>
            <a:endParaRPr/>
          </a:p>
          <a:p>
            <a:r>
              <a:t>CÂU CHUYỂN: (TV1) Mời bạn Nguyễn Đắc Hiển trình bày phần phân tích.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[TV2 · 3:15–3:55 · 40 giây]</a:t>
            </a:r>
          </a:p>
          <a:p>
            <a:endParaRPr/>
          </a:p>
          <a:p>
            <a:r>
              <a:t>Sau khi có dữ liệu sạch, nhóm phân tích theo thứ tự từ mô tả đến kiểm định. Thống kê mô tả cho biết hình dạng dữ liệu. Biểu đồ theo giờ, mùa, ngày lễ, nhiệt độ và lượng mưa cho thấy yếu tố nào có liên quan. Sau đó nhóm dùng ANOVA để kiểm tra sự khác biệt giữa các mùa là có thật hay chỉ do ngẫu nhiên, và hệ số tương quan Pearson để đo mức liên hệ và phát hiện các biến trùng thông tin trước khi làm mô hình.</a:t>
            </a:r>
          </a:p>
          <a:p>
            <a:endParaRPr/>
          </a:p>
          <a:p>
            <a:r>
              <a:t>CÂU CHUYỂN: Trước hết là thời điểm trong ngày và mùa.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[TV2 · 3:55–5:00 · 65 giây]</a:t>
            </a:r>
          </a:p>
          <a:p>
            <a:endParaRPr/>
          </a:p>
          <a:p>
            <a:r>
              <a:t>Phát hiện thứ nhất là giờ trong ngày. Từ thứ Hai đến thứ Sáu có hai đỉnh rõ rệt: tám giờ là một nghìn ba trăm linh sáu lượt và mười tám giờ là một nghìn bảy trăm hai mươi bốn lượt mỗi giờ, đúng giờ đi làm và tan làm. Cuối tuần không có đỉnh buổi sáng, cao nhất lúc mười bảy giờ. Phát hiện thứ hai là mùa: mùa Hạ trung bình một nghìn không trăm ba mươi bốn lượt, mùa Đông chỉ hai trăm hai mươi sáu, gấp bốn phẩy sáu lần. Để chắc chắn đây không phải ngẫu nhiên, nhóm chạy ANOVA: F bằng tám trăm bảy mươi lăm phẩy sáu, p nhỏ hơn không phẩy không không một, eta bình phương không phẩy hai ba bảy, tức mùa giải thích khoảng hai mươi bốn phần trăm biến thiên. Ngày lễ cũng thấp hơn ngày thường, năm trăm hai mươi chín so với bảy trăm ba mươi chín lượt.</a:t>
            </a:r>
          </a:p>
          <a:p>
            <a:endParaRPr/>
          </a:p>
          <a:p>
            <a:r>
              <a:t>CÂU CHUYỂN: Tiếp theo là ảnh hưởng của thời tiết.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[TV2 · 5:00–6:00 · 60 giây]</a:t>
            </a:r>
          </a:p>
          <a:p>
            <a:endParaRPr/>
          </a:p>
          <a:p>
            <a:r>
              <a:t>Về thời tiết, nhiệt độ liên quan mạnh nhất, hệ số Pearson không phẩy năm sáu. Nhưng quan hệ không đi thẳng: nhu cầu đạt đỉnh khoảng một nghìn hai trăm năm mươi tư lượt ở hai mươi lăm độ rồi giảm còn tám trăm bảy mươi chín khi trên ba mươi bảy độ. Lượng mưa tác động rất mạnh: bảy trăm sáu mươi sáu lượt khi không mưa, hai trăm hai mươi tư khi mưa nhỏ và chỉ bảy mươi ba khi mưa lớn. Cuối cùng, nhiệt độ và điểm sương có hệ số không phẩy chín mốt, gần như cùng một thông tin. Điều này báo trước hai việc cho bước mô hình: cần phương pháp xử lý đa cộng tuyến, và quan hệ phi tuyến sẽ là giới hạn của mô hình tuyến tính.</a:t>
            </a:r>
          </a:p>
          <a:p>
            <a:endParaRPr/>
          </a:p>
          <a:p>
            <a:r>
              <a:t>CÂU CHUYỂN: Em xin gom lại toàn bộ phần thăm dò trên một hình.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[TV2 · 6:00–6:35 · 35 giây]</a:t>
            </a:r>
          </a:p>
          <a:p>
            <a:endParaRPr/>
          </a:p>
          <a:p>
            <a:r>
              <a:t>Đây là dashboard nhóm dựng để gom cả phần thăm dò vào một hình. Bốn thẻ số ở trên cho biết quy mô: sáu phẩy một bảy triệu lượt thuê trong tám nghìn bốn trăm sáu mươi lăm giờ hoạt động, trung bình bảy trăm hai mươi chín lượt mỗi giờ. Bốn biểu đồ bên dưới đúng là bốn phát hiện vừa trình bày: nhịp hai đỉnh trong ngày, chênh lệch giữa bốn mùa, ngưỡng nhiệt độ dễ chịu khoảng hai mươi lăm độ, và mức sụt giảm khi trời mưa. Nhìn chung, nhu cầu phụ thuộc vào cả thời điểm lẫn thời tiết, nên bước tiếp theo là đưa tất cả các yếu tố này vào mô hình.</a:t>
            </a:r>
          </a:p>
          <a:p>
            <a:endParaRPr/>
          </a:p>
          <a:p>
            <a:r>
              <a:t>CÂU CHUYỂN: (TV2) Mời bạn Phạm Phước Hão trình bày phần mô hình.</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[TV3 · 6:35–7:30 · 55 giây]</a:t>
            </a:r>
          </a:p>
          <a:p>
            <a:endParaRPr/>
          </a:p>
          <a:p>
            <a:r>
              <a:t>Từ các phát hiện đó, nhóm xây dựng ba mô hình dự đoán số lượt thuê theo giờ. Dữ liệu chia tám mươi hai mươi bằng train_test_split, sáu nghìn bảy trăm bảy mươi hai giờ để huấn luyện và một nghìn sáu trăm chín mươi ba giờ để kiểm tra, cố định random_state để kết quả lặp lại được. Giờ, mùa và ngày lễ được mã hóa one-hot thành ba mươi sáu cột, vì nhu cầu có hai đỉnh nên không thể đưa giờ vào như một số tăng dần. Mô hình một chỉ dùng nhiệt độ làm mốc so sánh. Mô hình hai dùng toàn bộ biến. Mô hình ba là Ridge, thêm hệ số phạt L2 để xử lý đa cộng tuyến; nhóm chuẩn hóa dữ liệu trong pipeline và chọn alpha bằng GridSearchCV với kiểm định chéo năm lần, được alpha khoảng mười bốn phẩy bốn.</a:t>
            </a:r>
          </a:p>
          <a:p>
            <a:endParaRPr/>
          </a:p>
          <a:p>
            <a:r>
              <a:t>CÂU CHUYỂN: Sau đây là kết quả so sánh.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[TV3 · 7:30–8:20 · 50 giây]</a:t>
            </a:r>
          </a:p>
          <a:p>
            <a:endParaRPr/>
          </a:p>
          <a:p>
            <a:r>
              <a:t>Kết quả trên tập kiểm tra. Hồi quy đơn chỉ giải thích ba mươi hai phẩy năm phần trăm biến thiên, sai số trung bình ba trăm tám mươi mốt lượt mỗi giờ. Thêm giờ, thời tiết và mùa, R bình phương tăng gấp đôi lên không phẩy sáu sáu bốn và sai số giảm còn khoảng hai trăm bảy mươi lăm. Hồi quy đa biến và Ridge gần như bằng nhau, nên nhóm chọn Ridge vì nhỉnh hơn một chút và an toàn hơn trước đa cộng tuyến, chứ không xem đó là khác biệt lớn. Kiểm định chéo cho R bình phương khoảng không phẩy sáu sáu, sát với tập kiểm tra, nghĩa là mô hình ổn định, không bị quá khớp.</a:t>
            </a:r>
          </a:p>
          <a:p>
            <a:endParaRPr/>
          </a:p>
          <a:p>
            <a:r>
              <a:t>CÂU CHUYỂN: Em xem tiếp mô hình dự đoán đúng đến đâu.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[TV3 · 8:20–9:05 · 45 giây]</a:t>
            </a:r>
          </a:p>
          <a:p>
            <a:endParaRPr/>
          </a:p>
          <a:p>
            <a:r>
              <a:t>Nhóm không chỉ nhìn chỉ số mà còn kiểm tra sai số. Ở biểu đồ thực tế và dự đoán, mô hình đơn cho các điểm nằm gần như ngang, chưa phân biệt được giờ ít khách với giờ đông khách; mô hình đa biến và Ridge bám đường chéo. Nhưng ở vùng trên hai nghìn lượt mỗi giờ, mô hình dự đoán thấp hơn thực tế, và có lúc cho giá trị âm khi nhu cầu thấp. Biểu đồ phần dư có hình phễu, nghĩa là sai số càng lớn khi nhu cầu càng cao. Hệ quả thực tế: mô hình khá tin cậy ở giờ bình thường nhưng đánh giá thấp các giờ cao điểm.</a:t>
            </a:r>
          </a:p>
          <a:p>
            <a:endParaRPr/>
          </a:p>
          <a:p>
            <a:r>
              <a:t>CÂU CHUYỂN: Cuối cùng em xin tổng kết.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[TV3 · 9:05–9:55 · 50 giây]</a:t>
            </a:r>
          </a:p>
          <a:p>
            <a:endParaRPr/>
          </a:p>
          <a:p>
            <a:r>
              <a:t>Tổng kết có ba điểm. Một, nhu cầu đi theo nhịp đi làm, với hai đỉnh tám giờ và mười tám giờ, và cao nhất vào mùa Hạ. Hai, nhiệt độ tốt nhất khoảng hai mươi lăm độ, còn mưa lớn làm nhu cầu giảm hơn chín mươi phần trăm. Ba, mô hình Ridge giải thích sáu mươi sáu phẩy bốn phần trăm biến thiên, sai số khoảng hai trăm bảy mươi lăm lượt mỗi giờ. Từ đó nhóm đề xuất đơn vị vận hành bố trí xe theo giờ cao điểm và theo mùa, đồng thời cộng thêm xe dự phòng ở giờ cao điểm vì mô hình còn dự đoán thấp. Hạn chế là mô hình tuyến tính chưa bắt hết quan hệ phi tuyến, và dữ liệu mới một năm của một hệ thống.</a:t>
            </a:r>
          </a:p>
          <a:p>
            <a:endParaRPr/>
          </a:p>
          <a:p>
            <a:r>
              <a:t>CÂU CHUYỂN: Bây giờ nhóm xin chuyển sang phần demo trên notebook.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[TV3 giới thiệu 9:55–10:10 · Demo 10:10–14:50]</a:t>
            </a:r>
          </a:p>
          <a:p>
            <a:endParaRPr/>
          </a:p>
          <a:p>
            <a:r>
              <a:t>TV3 (15 giây): Nhóm demo trên một notebook chung Nhom23_Code.ipynb, gồm ba phần: Phần A chuẩn bị dữ liệu, Phần B phân tích thăm dò, Phần C mô hình. Mỗi thành viên trình bày kết quả phần mình phụ trách.</a:t>
            </a:r>
          </a:p>
          <a:p>
            <a:endParaRPr/>
          </a:p>
          <a:p>
            <a:r>
              <a:t>TV1 (10:10–11:10), Phần A: Đây là kết quả kiểm tra dữ liệu: tám nghìn bảy trăm sáu mươi dòng, mười bốn cột gốc, không có giá trị khuyết hay dòng trùng. Ô này cho thấy hai trăm chín mươi lăm giờ ngừng hoạt động đều có không lượt thuê, và không giờ nào đang hoạt động mà bằng không. File sạch lưu lại đủ tám nghìn bảy trăm sáu mươi dòng và mười bảy cột; việc loại hai trăm chín mươi lăm giờ làm ở bước phân tích, còn tám nghìn bốn trăm sáu mươi lăm giờ.</a:t>
            </a:r>
          </a:p>
          <a:p>
            <a:endParaRPr/>
          </a:p>
          <a:p>
            <a:r>
              <a:t>TV2 (11:10–13:00), Phần B: Mục 5 là biểu đồ theo giờ, đường xanh ngày thường có hai đỉnh tám giờ và mười tám giờ, đường cam cuối tuần không có đỉnh sáng. Mục 6 là boxplot theo mùa và ngày lễ, mùa Hạ cao hơn hẳn mùa Đông. Mục 7 là nhiệt độ và lượng mưa, Pearson bằng không phẩy năm sáu ba. Mục 8 là heatmap, nhiệt độ và điểm sương bằng không phẩy chín mốt. Mục 9 là ANOVA, F bằng tám trăm bảy mươi lăm phẩy sáu. Mục 13 là ô sinh ra dashboard vừa trình bày ở slide.</a:t>
            </a:r>
          </a:p>
          <a:p>
            <a:endParaRPr/>
          </a:p>
          <a:p>
            <a:r>
              <a:t>TV3 (13:00–14:50), Phần C: Mục C.2 và C.3 cho thấy chia sáu nghìn bảy trăm bảy mươi hai và một nghìn sáu trăm chín mươi ba giờ, alpha bằng mười bốn phẩy ba tám bốn. Bảng C.4 so sánh ba mô hình: R bình phương không phẩy ba hai lăm, không phẩy sáu sáu bốn và không phẩy sáu sáu bốn. Mục C.5 là biểu đồ thực tế và dự đoán, biểu đồ phần dư hình phễu và biểu đồ so sánh ba chỉ số. Mục C.6 cho hệ số lớn nhất của Ridge.</a:t>
            </a:r>
          </a:p>
          <a:p>
            <a:endParaRPr/>
          </a:p>
          <a:p>
            <a:r>
              <a:t>CÂU CHUYỂN: (TV3) Nhóm xin kết thúc phần demo.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[Cả nhóm · 14:50–15:00]</a:t>
            </a:r>
          </a:p>
          <a:p>
            <a:endParaRPr/>
          </a:p>
          <a:p>
            <a:r>
              <a:t>Cả nhóm bật camera, cùng xuất hiện ở khung hình cuối.</a:t>
            </a:r>
          </a:p>
          <a:p>
            <a:endParaRPr/>
          </a:p>
          <a:p>
            <a:r>
              <a:t>TV3: Phần trình bày của nhóm 23 đến đây là hết. Nhóm xin cảm ơn thầy đã theo dõi.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ANG">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OI">
    <p:bg>
      <p:bgPr>
        <a:solidFill>
          <a:srgbClr val="0F172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0"/>
          <p:cNvSpPr txBox="1"/>
          <p:nvPr/>
        </p:nvSpPr>
        <p:spPr>
          <a:xfrm>
            <a:off x="2871964" y="502920"/>
            <a:ext cx="8229600" cy="365760"/>
          </a:xfrm>
          <a:prstGeom prst="rect">
            <a:avLst/>
          </a:prstGeom>
          <a:noFill/>
          <a:ln/>
        </p:spPr>
        <p:txBody>
          <a:bodyPr wrap="square" lIns="0" tIns="0" rIns="0" bIns="0" rtlCol="0" anchor="ctr"/>
          <a:lstStyle/>
          <a:p>
            <a:pPr marL="0" indent="0">
              <a:buNone/>
            </a:pPr>
            <a:r>
              <a:rPr lang="en-US" sz="1400" b="1" dirty="0">
                <a:solidFill>
                  <a:srgbClr val="94A3B8"/>
                </a:solidFill>
                <a:latin typeface="Calibri" pitchFamily="34" charset="0"/>
                <a:ea typeface="Calibri" pitchFamily="34" charset="-122"/>
                <a:cs typeface="Calibri" pitchFamily="34" charset="-120"/>
              </a:rPr>
              <a:t>ĐẠI HỌC QUỐC GIA TP.HCM — TRƯỜNG ĐẠI HỌC CÔNG NGHỆ THÔNG TIN</a:t>
            </a:r>
            <a:endParaRPr lang="en-US" sz="1400" dirty="0"/>
          </a:p>
        </p:txBody>
      </p:sp>
      <p:sp>
        <p:nvSpPr>
          <p:cNvPr id="5" name="Shape 1"/>
          <p:cNvSpPr/>
          <p:nvPr/>
        </p:nvSpPr>
        <p:spPr>
          <a:xfrm>
            <a:off x="10332720" y="502920"/>
            <a:ext cx="1325880" cy="365760"/>
          </a:xfrm>
          <a:prstGeom prst="roundRect">
            <a:avLst>
              <a:gd name="adj" fmla="val 50000"/>
            </a:avLst>
          </a:prstGeom>
          <a:solidFill>
            <a:srgbClr val="1E293B"/>
          </a:solidFill>
          <a:ln w="12700">
            <a:solidFill>
              <a:srgbClr val="1E293B"/>
            </a:solidFill>
            <a:prstDash val="solid"/>
          </a:ln>
        </p:spPr>
        <p:txBody>
          <a:bodyPr/>
          <a:lstStyle/>
          <a:p>
            <a:endParaRPr lang="en-US"/>
          </a:p>
        </p:txBody>
      </p:sp>
      <p:sp>
        <p:nvSpPr>
          <p:cNvPr id="6" name="Text 2"/>
          <p:cNvSpPr txBox="1"/>
          <p:nvPr/>
        </p:nvSpPr>
        <p:spPr>
          <a:xfrm>
            <a:off x="10332720" y="502920"/>
            <a:ext cx="1325880" cy="365760"/>
          </a:xfrm>
          <a:prstGeom prst="rect">
            <a:avLst/>
          </a:prstGeom>
          <a:noFill/>
          <a:ln/>
        </p:spPr>
        <p:txBody>
          <a:bodyPr wrap="square" lIns="0" tIns="0" rIns="0" bIns="0" rtlCol="0" anchor="ctr"/>
          <a:lstStyle/>
          <a:p>
            <a:pPr marL="0" indent="0" algn="ctr">
              <a:buNone/>
            </a:pPr>
            <a:r>
              <a:rPr lang="en-US" sz="1300" b="1" dirty="0">
                <a:solidFill>
                  <a:srgbClr val="38BDF8"/>
                </a:solidFill>
                <a:latin typeface="Calibri" pitchFamily="34" charset="0"/>
                <a:ea typeface="Calibri" pitchFamily="34" charset="-122"/>
                <a:cs typeface="Calibri" pitchFamily="34" charset="-120"/>
              </a:rPr>
              <a:t>Môn: IE313</a:t>
            </a:r>
            <a:endParaRPr lang="en-US" sz="1300" dirty="0"/>
          </a:p>
        </p:txBody>
      </p:sp>
      <p:sp>
        <p:nvSpPr>
          <p:cNvPr id="7" name="Text 3"/>
          <p:cNvSpPr txBox="1"/>
          <p:nvPr/>
        </p:nvSpPr>
        <p:spPr>
          <a:xfrm>
            <a:off x="548640" y="2148840"/>
            <a:ext cx="7315200" cy="365760"/>
          </a:xfrm>
          <a:prstGeom prst="rect">
            <a:avLst/>
          </a:prstGeom>
          <a:noFill/>
          <a:ln/>
        </p:spPr>
        <p:txBody>
          <a:bodyPr wrap="square" lIns="0" tIns="0" rIns="0" bIns="0" rtlCol="0" anchor="t"/>
          <a:lstStyle/>
          <a:p>
            <a:pPr marL="0" indent="0">
              <a:buNone/>
            </a:pPr>
            <a:r>
              <a:rPr lang="en-US" sz="1600" b="1" kern="0" spc="200" dirty="0">
                <a:solidFill>
                  <a:srgbClr val="38BDF8"/>
                </a:solidFill>
                <a:latin typeface="Calibri" pitchFamily="34" charset="0"/>
                <a:ea typeface="Calibri" pitchFamily="34" charset="-122"/>
                <a:cs typeface="Calibri" pitchFamily="34" charset="-120"/>
              </a:rPr>
              <a:t>ĐỒ ÁN PHÂN TÍCH DỮ LIỆU</a:t>
            </a:r>
            <a:endParaRPr lang="en-US" sz="1600" dirty="0"/>
          </a:p>
        </p:txBody>
      </p:sp>
      <p:sp>
        <p:nvSpPr>
          <p:cNvPr id="8" name="Text 4"/>
          <p:cNvSpPr txBox="1"/>
          <p:nvPr/>
        </p:nvSpPr>
        <p:spPr>
          <a:xfrm>
            <a:off x="548640" y="2560320"/>
            <a:ext cx="10515600" cy="1737360"/>
          </a:xfrm>
          <a:prstGeom prst="rect">
            <a:avLst/>
          </a:prstGeom>
          <a:noFill/>
          <a:ln/>
        </p:spPr>
        <p:txBody>
          <a:bodyPr wrap="square" lIns="0" tIns="0" rIns="0" bIns="0" rtlCol="0" anchor="t"/>
          <a:lstStyle/>
          <a:p>
            <a:pPr marL="0" indent="0">
              <a:lnSpc>
                <a:spcPct val="95000"/>
              </a:lnSpc>
              <a:buNone/>
            </a:pPr>
            <a:r>
              <a:rPr lang="en-US" sz="4600" b="1" dirty="0">
                <a:solidFill>
                  <a:srgbClr val="FFFFFF"/>
                </a:solidFill>
                <a:latin typeface="Calibri" pitchFamily="34" charset="0"/>
                <a:ea typeface="Calibri" pitchFamily="34" charset="-122"/>
                <a:cs typeface="Calibri" pitchFamily="34" charset="-120"/>
              </a:rPr>
              <a:t>PHÂN TÍCH NHU CẦU THUÊ XE ĐẠP</a:t>
            </a:r>
            <a:endParaRPr lang="en-US" sz="4600" dirty="0"/>
          </a:p>
          <a:p>
            <a:pPr marL="0" indent="0">
              <a:lnSpc>
                <a:spcPct val="95000"/>
              </a:lnSpc>
              <a:buNone/>
            </a:pPr>
            <a:r>
              <a:rPr lang="en-US" sz="4600" b="1" dirty="0">
                <a:solidFill>
                  <a:srgbClr val="FFFFFF"/>
                </a:solidFill>
                <a:latin typeface="Calibri" pitchFamily="34" charset="0"/>
                <a:ea typeface="Calibri" pitchFamily="34" charset="-122"/>
                <a:cs typeface="Calibri" pitchFamily="34" charset="-120"/>
              </a:rPr>
              <a:t>CÔNG CỘNG TẠI SEOUL</a:t>
            </a:r>
            <a:endParaRPr lang="en-US" sz="4600" dirty="0"/>
          </a:p>
        </p:txBody>
      </p:sp>
      <p:sp>
        <p:nvSpPr>
          <p:cNvPr id="9" name="Text 5"/>
          <p:cNvSpPr txBox="1"/>
          <p:nvPr/>
        </p:nvSpPr>
        <p:spPr>
          <a:xfrm>
            <a:off x="548640" y="4389120"/>
            <a:ext cx="10058400" cy="457200"/>
          </a:xfrm>
          <a:prstGeom prst="rect">
            <a:avLst/>
          </a:prstGeom>
          <a:noFill/>
          <a:ln/>
        </p:spPr>
        <p:txBody>
          <a:bodyPr wrap="square" lIns="0" tIns="0" rIns="0" bIns="0" rtlCol="0" anchor="t"/>
          <a:lstStyle/>
          <a:p>
            <a:pPr marL="0" indent="0">
              <a:buNone/>
            </a:pPr>
            <a:r>
              <a:rPr lang="en-US" sz="2000" dirty="0">
                <a:solidFill>
                  <a:srgbClr val="94A3B8"/>
                </a:solidFill>
                <a:latin typeface="Calibri" pitchFamily="34" charset="0"/>
                <a:ea typeface="Calibri" pitchFamily="34" charset="-122"/>
                <a:cs typeface="Calibri" pitchFamily="34" charset="-120"/>
              </a:rPr>
              <a:t>Khám phá các yếu tố ảnh hưởng và xây dựng mô hình dự đoán theo giờ</a:t>
            </a:r>
            <a:endParaRPr lang="en-US" sz="2000" dirty="0"/>
          </a:p>
        </p:txBody>
      </p:sp>
      <p:sp>
        <p:nvSpPr>
          <p:cNvPr id="10" name="Shape 6"/>
          <p:cNvSpPr/>
          <p:nvPr/>
        </p:nvSpPr>
        <p:spPr>
          <a:xfrm>
            <a:off x="548640" y="6080760"/>
            <a:ext cx="11091672" cy="0"/>
          </a:xfrm>
          <a:prstGeom prst="line">
            <a:avLst/>
          </a:prstGeom>
          <a:noFill/>
          <a:ln w="12700">
            <a:solidFill>
              <a:srgbClr val="334155"/>
            </a:solidFill>
            <a:prstDash val="solid"/>
          </a:ln>
        </p:spPr>
        <p:txBody>
          <a:bodyPr/>
          <a:lstStyle/>
          <a:p>
            <a:endParaRPr lang="en-US"/>
          </a:p>
        </p:txBody>
      </p:sp>
      <p:sp>
        <p:nvSpPr>
          <p:cNvPr id="11" name="Text 7"/>
          <p:cNvSpPr txBox="1"/>
          <p:nvPr/>
        </p:nvSpPr>
        <p:spPr>
          <a:xfrm>
            <a:off x="548640" y="6217920"/>
            <a:ext cx="4572000" cy="274320"/>
          </a:xfrm>
          <a:prstGeom prst="rect">
            <a:avLst/>
          </a:prstGeom>
          <a:noFill/>
          <a:ln/>
        </p:spPr>
        <p:txBody>
          <a:bodyPr wrap="square" lIns="0" tIns="0" rIns="0" bIns="0" rtlCol="0" anchor="t"/>
          <a:lstStyle/>
          <a:p>
            <a:pPr marL="0" indent="0">
              <a:buNone/>
            </a:pPr>
            <a:r>
              <a:rPr lang="en-US" sz="1300" b="1" dirty="0">
                <a:solidFill>
                  <a:srgbClr val="94A3B8"/>
                </a:solidFill>
                <a:latin typeface="Calibri" pitchFamily="34" charset="0"/>
                <a:ea typeface="Calibri" pitchFamily="34" charset="-122"/>
                <a:cs typeface="Calibri" pitchFamily="34" charset="-120"/>
              </a:rPr>
              <a:t>THỰC HIỆN BỞI NHÓM 23</a:t>
            </a:r>
            <a:endParaRPr lang="en-US" sz="1300" dirty="0"/>
          </a:p>
        </p:txBody>
      </p:sp>
      <p:sp>
        <p:nvSpPr>
          <p:cNvPr id="15" name="Freeform 9">
            <a:extLst>
              <a:ext uri="{FF2B5EF4-FFF2-40B4-BE49-F238E27FC236}">
                <a16:creationId xmlns:a16="http://schemas.microsoft.com/office/drawing/2014/main" id="{22838356-4585-C913-A788-B16D55C8DAC1}"/>
              </a:ext>
            </a:extLst>
          </p:cNvPr>
          <p:cNvSpPr/>
          <p:nvPr/>
        </p:nvSpPr>
        <p:spPr>
          <a:xfrm>
            <a:off x="501845" y="266437"/>
            <a:ext cx="2332795" cy="1836683"/>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3"/>
            <a:stretch>
              <a:fillRect b="-51881"/>
            </a:stretch>
          </a:blipFill>
        </p:spPr>
        <p:txBody>
          <a:bodyPr/>
          <a:lstStyle/>
          <a:p>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THÀNH VIÊN THỰC HIỆN</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NHÓM VÀ PHÂN CÔNG VAI TRÒ</a:t>
            </a:r>
            <a:endParaRPr lang="en-US" sz="3000" dirty="0"/>
          </a:p>
        </p:txBody>
      </p:sp>
      <p:sp>
        <p:nvSpPr>
          <p:cNvPr id="5" name="Shape 2"/>
          <p:cNvSpPr/>
          <p:nvPr/>
        </p:nvSpPr>
        <p:spPr>
          <a:xfrm>
            <a:off x="548640" y="1600200"/>
            <a:ext cx="3546043" cy="4709160"/>
          </a:xfrm>
          <a:prstGeom prst="roundRect">
            <a:avLst>
              <a:gd name="adj" fmla="val 2579"/>
            </a:avLst>
          </a:prstGeom>
          <a:solidFill>
            <a:srgbClr val="F8FAFC"/>
          </a:solidFill>
          <a:ln w="12700">
            <a:solidFill>
              <a:srgbClr val="E2E8F0"/>
            </a:solidFill>
            <a:prstDash val="solid"/>
          </a:ln>
        </p:spPr>
        <p:txBody>
          <a:bodyPr/>
          <a:lstStyle/>
          <a:p>
            <a:endParaRPr lang="en-US"/>
          </a:p>
        </p:txBody>
      </p:sp>
      <p:sp>
        <p:nvSpPr>
          <p:cNvPr id="10" name="Text 6"/>
          <p:cNvSpPr txBox="1"/>
          <p:nvPr/>
        </p:nvSpPr>
        <p:spPr>
          <a:xfrm>
            <a:off x="731520" y="4343400"/>
            <a:ext cx="3180283" cy="411480"/>
          </a:xfrm>
          <a:prstGeom prst="rect">
            <a:avLst/>
          </a:prstGeom>
          <a:noFill/>
          <a:ln/>
        </p:spPr>
        <p:txBody>
          <a:bodyPr wrap="square" lIns="0" tIns="0" rIns="0" bIns="0" rtlCol="0" anchor="t"/>
          <a:lstStyle/>
          <a:p>
            <a:pPr marL="0" indent="0" algn="ctr">
              <a:buNone/>
            </a:pPr>
            <a:r>
              <a:rPr lang="en-US" sz="2200" b="1" dirty="0">
                <a:solidFill>
                  <a:srgbClr val="0F172A"/>
                </a:solidFill>
                <a:latin typeface="Calibri" pitchFamily="34" charset="0"/>
                <a:ea typeface="Calibri" pitchFamily="34" charset="-122"/>
                <a:cs typeface="Calibri" pitchFamily="34" charset="-120"/>
              </a:rPr>
              <a:t>Nguyễn Văn Hiền</a:t>
            </a:r>
            <a:endParaRPr lang="en-US" sz="2200" dirty="0"/>
          </a:p>
        </p:txBody>
      </p:sp>
      <p:sp>
        <p:nvSpPr>
          <p:cNvPr id="11" name="Text 7"/>
          <p:cNvSpPr txBox="1"/>
          <p:nvPr/>
        </p:nvSpPr>
        <p:spPr>
          <a:xfrm>
            <a:off x="731520" y="4800600"/>
            <a:ext cx="3180283" cy="365760"/>
          </a:xfrm>
          <a:prstGeom prst="rect">
            <a:avLst/>
          </a:prstGeom>
          <a:noFill/>
          <a:ln/>
        </p:spPr>
        <p:txBody>
          <a:bodyPr wrap="square" lIns="0" tIns="0" rIns="0" bIns="0" rtlCol="0" anchor="t"/>
          <a:lstStyle/>
          <a:p>
            <a:pPr marL="0" indent="0" algn="ctr">
              <a:buNone/>
            </a:pPr>
            <a:r>
              <a:rPr lang="en-US" sz="1800" b="1" dirty="0">
                <a:solidFill>
                  <a:srgbClr val="0284C7"/>
                </a:solidFill>
                <a:latin typeface="Courier New" pitchFamily="34" charset="0"/>
                <a:ea typeface="Courier New" pitchFamily="34" charset="-122"/>
                <a:cs typeface="Courier New" pitchFamily="34" charset="-120"/>
              </a:rPr>
              <a:t>MSSV: 25410208</a:t>
            </a:r>
            <a:endParaRPr lang="en-US" sz="1800" dirty="0"/>
          </a:p>
        </p:txBody>
      </p:sp>
      <p:sp>
        <p:nvSpPr>
          <p:cNvPr id="12" name="Shape 8"/>
          <p:cNvSpPr/>
          <p:nvPr/>
        </p:nvSpPr>
        <p:spPr>
          <a:xfrm>
            <a:off x="822960" y="5440680"/>
            <a:ext cx="2997403" cy="548640"/>
          </a:xfrm>
          <a:prstGeom prst="roundRect">
            <a:avLst>
              <a:gd name="adj" fmla="val 13333"/>
            </a:avLst>
          </a:prstGeom>
          <a:solidFill>
            <a:srgbClr val="FFFFFF"/>
          </a:solidFill>
          <a:ln w="12700">
            <a:solidFill>
              <a:srgbClr val="E2E8F0"/>
            </a:solidFill>
            <a:prstDash val="solid"/>
          </a:ln>
        </p:spPr>
        <p:txBody>
          <a:bodyPr/>
          <a:lstStyle/>
          <a:p>
            <a:endParaRPr lang="en-US"/>
          </a:p>
        </p:txBody>
      </p:sp>
      <p:sp>
        <p:nvSpPr>
          <p:cNvPr id="13" name="Text 9"/>
          <p:cNvSpPr txBox="1"/>
          <p:nvPr/>
        </p:nvSpPr>
        <p:spPr>
          <a:xfrm>
            <a:off x="914400" y="5440680"/>
            <a:ext cx="2814523" cy="548640"/>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TV1: Chuẩn bị dữ liệu và tiền xử lý</a:t>
            </a:r>
            <a:endParaRPr lang="en-US" sz="1400" dirty="0"/>
          </a:p>
        </p:txBody>
      </p:sp>
      <p:sp>
        <p:nvSpPr>
          <p:cNvPr id="14" name="Shape 10"/>
          <p:cNvSpPr/>
          <p:nvPr/>
        </p:nvSpPr>
        <p:spPr>
          <a:xfrm>
            <a:off x="4323283" y="1600200"/>
            <a:ext cx="3546043" cy="4709160"/>
          </a:xfrm>
          <a:prstGeom prst="roundRect">
            <a:avLst>
              <a:gd name="adj" fmla="val 2579"/>
            </a:avLst>
          </a:prstGeom>
          <a:solidFill>
            <a:srgbClr val="F8FAFC"/>
          </a:solidFill>
          <a:ln w="12700">
            <a:solidFill>
              <a:srgbClr val="E2E8F0"/>
            </a:solidFill>
            <a:prstDash val="solid"/>
          </a:ln>
        </p:spPr>
        <p:txBody>
          <a:bodyPr/>
          <a:lstStyle/>
          <a:p>
            <a:endParaRPr lang="en-US"/>
          </a:p>
        </p:txBody>
      </p:sp>
      <p:sp>
        <p:nvSpPr>
          <p:cNvPr id="19" name="Text 14"/>
          <p:cNvSpPr txBox="1"/>
          <p:nvPr/>
        </p:nvSpPr>
        <p:spPr>
          <a:xfrm>
            <a:off x="4506163" y="4343400"/>
            <a:ext cx="3180283" cy="411480"/>
          </a:xfrm>
          <a:prstGeom prst="rect">
            <a:avLst/>
          </a:prstGeom>
          <a:noFill/>
          <a:ln/>
        </p:spPr>
        <p:txBody>
          <a:bodyPr wrap="square" lIns="0" tIns="0" rIns="0" bIns="0" rtlCol="0" anchor="t"/>
          <a:lstStyle/>
          <a:p>
            <a:pPr algn="ctr"/>
            <a:r>
              <a:rPr lang="en-US" sz="2200" b="1" dirty="0">
                <a:latin typeface="+mj-lt"/>
              </a:rPr>
              <a:t>Nguyễn </a:t>
            </a:r>
            <a:r>
              <a:rPr lang="en-US" sz="2200" b="1" dirty="0" err="1">
                <a:latin typeface="+mj-lt"/>
              </a:rPr>
              <a:t>Đắc</a:t>
            </a:r>
            <a:r>
              <a:rPr lang="en-US" sz="2200" b="1" dirty="0">
                <a:latin typeface="+mj-lt"/>
              </a:rPr>
              <a:t> Hiển</a:t>
            </a:r>
          </a:p>
        </p:txBody>
      </p:sp>
      <p:sp>
        <p:nvSpPr>
          <p:cNvPr id="20" name="Text 15"/>
          <p:cNvSpPr txBox="1"/>
          <p:nvPr/>
        </p:nvSpPr>
        <p:spPr>
          <a:xfrm>
            <a:off x="4506163" y="4800600"/>
            <a:ext cx="3180283" cy="365760"/>
          </a:xfrm>
          <a:prstGeom prst="rect">
            <a:avLst/>
          </a:prstGeom>
          <a:noFill/>
          <a:ln/>
        </p:spPr>
        <p:txBody>
          <a:bodyPr wrap="square" lIns="0" tIns="0" rIns="0" bIns="0" rtlCol="0" anchor="t"/>
          <a:lstStyle/>
          <a:p>
            <a:pPr marL="0" indent="0" algn="ctr">
              <a:buNone/>
            </a:pPr>
            <a:r>
              <a:rPr lang="en-US" sz="1800" b="1" dirty="0">
                <a:solidFill>
                  <a:srgbClr val="C2410C"/>
                </a:solidFill>
                <a:latin typeface="Courier New" pitchFamily="34" charset="0"/>
                <a:ea typeface="Courier New" pitchFamily="34" charset="-122"/>
                <a:cs typeface="Courier New" pitchFamily="34" charset="-120"/>
              </a:rPr>
              <a:t>MSSV: 25410206</a:t>
            </a:r>
            <a:endParaRPr lang="en-US" sz="1800" dirty="0"/>
          </a:p>
        </p:txBody>
      </p:sp>
      <p:sp>
        <p:nvSpPr>
          <p:cNvPr id="21" name="Shape 16"/>
          <p:cNvSpPr/>
          <p:nvPr/>
        </p:nvSpPr>
        <p:spPr>
          <a:xfrm>
            <a:off x="4597603" y="5440680"/>
            <a:ext cx="2997403" cy="548640"/>
          </a:xfrm>
          <a:prstGeom prst="roundRect">
            <a:avLst>
              <a:gd name="adj" fmla="val 13333"/>
            </a:avLst>
          </a:prstGeom>
          <a:solidFill>
            <a:srgbClr val="FFFFFF"/>
          </a:solidFill>
          <a:ln w="12700">
            <a:solidFill>
              <a:srgbClr val="E2E8F0"/>
            </a:solidFill>
            <a:prstDash val="solid"/>
          </a:ln>
        </p:spPr>
        <p:txBody>
          <a:bodyPr/>
          <a:lstStyle/>
          <a:p>
            <a:endParaRPr lang="en-US"/>
          </a:p>
        </p:txBody>
      </p:sp>
      <p:sp>
        <p:nvSpPr>
          <p:cNvPr id="22" name="Text 17"/>
          <p:cNvSpPr txBox="1"/>
          <p:nvPr/>
        </p:nvSpPr>
        <p:spPr>
          <a:xfrm>
            <a:off x="4689043" y="5440680"/>
            <a:ext cx="2814523" cy="548640"/>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TV2: Phân tích thăm dò (EDA)</a:t>
            </a:r>
            <a:endParaRPr lang="en-US" sz="1400" dirty="0"/>
          </a:p>
        </p:txBody>
      </p:sp>
      <p:sp>
        <p:nvSpPr>
          <p:cNvPr id="23" name="Shape 18"/>
          <p:cNvSpPr/>
          <p:nvPr/>
        </p:nvSpPr>
        <p:spPr>
          <a:xfrm>
            <a:off x="8097926" y="1600200"/>
            <a:ext cx="3546043" cy="4709160"/>
          </a:xfrm>
          <a:prstGeom prst="roundRect">
            <a:avLst>
              <a:gd name="adj" fmla="val 2579"/>
            </a:avLst>
          </a:prstGeom>
          <a:solidFill>
            <a:srgbClr val="F8FAFC"/>
          </a:solidFill>
          <a:ln w="12700">
            <a:solidFill>
              <a:srgbClr val="E2E8F0"/>
            </a:solidFill>
            <a:prstDash val="solid"/>
          </a:ln>
        </p:spPr>
        <p:txBody>
          <a:bodyPr/>
          <a:lstStyle/>
          <a:p>
            <a:endParaRPr lang="en-US"/>
          </a:p>
        </p:txBody>
      </p:sp>
      <p:sp>
        <p:nvSpPr>
          <p:cNvPr id="28" name="Text 22"/>
          <p:cNvSpPr txBox="1"/>
          <p:nvPr/>
        </p:nvSpPr>
        <p:spPr>
          <a:xfrm>
            <a:off x="8280806" y="4343400"/>
            <a:ext cx="3180283" cy="411480"/>
          </a:xfrm>
          <a:prstGeom prst="rect">
            <a:avLst/>
          </a:prstGeom>
          <a:noFill/>
          <a:ln/>
        </p:spPr>
        <p:txBody>
          <a:bodyPr wrap="square" lIns="0" tIns="0" rIns="0" bIns="0" rtlCol="0" anchor="t"/>
          <a:lstStyle/>
          <a:p>
            <a:pPr algn="ctr"/>
            <a:r>
              <a:rPr lang="vi-VN" sz="2200" b="1" dirty="0">
                <a:latin typeface="Calibri" pitchFamily="34" charset="0"/>
                <a:ea typeface="Calibri" pitchFamily="34" charset="-122"/>
                <a:cs typeface="Calibri" pitchFamily="34" charset="-120"/>
              </a:rPr>
              <a:t>Phạm Phước Hão</a:t>
            </a:r>
            <a:endParaRPr lang="en-US" sz="2200" dirty="0"/>
          </a:p>
        </p:txBody>
      </p:sp>
      <p:sp>
        <p:nvSpPr>
          <p:cNvPr id="29" name="Text 23"/>
          <p:cNvSpPr txBox="1"/>
          <p:nvPr/>
        </p:nvSpPr>
        <p:spPr>
          <a:xfrm>
            <a:off x="8280806" y="4800600"/>
            <a:ext cx="3180283" cy="365760"/>
          </a:xfrm>
          <a:prstGeom prst="rect">
            <a:avLst/>
          </a:prstGeom>
          <a:noFill/>
          <a:ln/>
        </p:spPr>
        <p:txBody>
          <a:bodyPr wrap="square" lIns="0" tIns="0" rIns="0" bIns="0" rtlCol="0" anchor="t"/>
          <a:lstStyle/>
          <a:p>
            <a:pPr marL="0" indent="0" algn="ctr">
              <a:buNone/>
            </a:pPr>
            <a:r>
              <a:rPr lang="en-US" sz="1800" b="1" dirty="0">
                <a:solidFill>
                  <a:srgbClr val="C2410C"/>
                </a:solidFill>
                <a:latin typeface="Courier New" pitchFamily="34" charset="0"/>
                <a:ea typeface="Courier New" pitchFamily="34" charset="-122"/>
                <a:cs typeface="Courier New" pitchFamily="34" charset="-120"/>
              </a:rPr>
              <a:t>MSSV: 25410201</a:t>
            </a:r>
            <a:endParaRPr lang="en-US" sz="1800" dirty="0"/>
          </a:p>
        </p:txBody>
      </p:sp>
      <p:sp>
        <p:nvSpPr>
          <p:cNvPr id="30" name="Shape 24"/>
          <p:cNvSpPr/>
          <p:nvPr/>
        </p:nvSpPr>
        <p:spPr>
          <a:xfrm>
            <a:off x="8372246" y="5440680"/>
            <a:ext cx="2997403" cy="548640"/>
          </a:xfrm>
          <a:prstGeom prst="roundRect">
            <a:avLst>
              <a:gd name="adj" fmla="val 13333"/>
            </a:avLst>
          </a:prstGeom>
          <a:solidFill>
            <a:srgbClr val="FFFFFF"/>
          </a:solidFill>
          <a:ln w="12700">
            <a:solidFill>
              <a:srgbClr val="E2E8F0"/>
            </a:solidFill>
            <a:prstDash val="solid"/>
          </a:ln>
        </p:spPr>
        <p:txBody>
          <a:bodyPr/>
          <a:lstStyle/>
          <a:p>
            <a:endParaRPr lang="en-US"/>
          </a:p>
        </p:txBody>
      </p:sp>
      <p:sp>
        <p:nvSpPr>
          <p:cNvPr id="31" name="Text 25"/>
          <p:cNvSpPr txBox="1"/>
          <p:nvPr/>
        </p:nvSpPr>
        <p:spPr>
          <a:xfrm>
            <a:off x="8463686" y="5440680"/>
            <a:ext cx="2814523" cy="548640"/>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TV3: Mô hình hóa và kết luận</a:t>
            </a:r>
            <a:endParaRPr lang="en-US" sz="1400" dirty="0"/>
          </a:p>
        </p:txBody>
      </p:sp>
      <p:pic>
        <p:nvPicPr>
          <p:cNvPr id="32" name="Picture 31">
            <a:extLst>
              <a:ext uri="{FF2B5EF4-FFF2-40B4-BE49-F238E27FC236}">
                <a16:creationId xmlns:a16="http://schemas.microsoft.com/office/drawing/2014/main" id="{8A24B0A9-C6ED-AFCB-F83F-E3CA4252FC75}"/>
              </a:ext>
            </a:extLst>
          </p:cNvPr>
          <p:cNvPicPr>
            <a:picLocks noChangeAspect="1"/>
          </p:cNvPicPr>
          <p:nvPr/>
        </p:nvPicPr>
        <p:blipFill>
          <a:blip r:embed="rId3"/>
          <a:stretch>
            <a:fillRect/>
          </a:stretch>
        </p:blipFill>
        <p:spPr>
          <a:xfrm>
            <a:off x="8463686" y="1912775"/>
            <a:ext cx="2814523" cy="2174593"/>
          </a:xfrm>
          <a:prstGeom prst="rect">
            <a:avLst/>
          </a:prstGeom>
        </p:spPr>
      </p:pic>
      <p:sp>
        <p:nvSpPr>
          <p:cNvPr id="7" name="Freeform 9">
            <a:extLst>
              <a:ext uri="{FF2B5EF4-FFF2-40B4-BE49-F238E27FC236}">
                <a16:creationId xmlns:a16="http://schemas.microsoft.com/office/drawing/2014/main" id="{5BA28768-B716-1B9F-010A-4AC5F6EF5011}"/>
              </a:ext>
            </a:extLst>
          </p:cNvPr>
          <p:cNvSpPr/>
          <p:nvPr/>
        </p:nvSpPr>
        <p:spPr>
          <a:xfrm>
            <a:off x="11027915" y="29976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4"/>
            <a:stretch>
              <a:fillRect b="-51881"/>
            </a:stretch>
          </a:blipFill>
        </p:spPr>
        <p:txBody>
          <a:bodyPr/>
          <a:lstStyle/>
          <a:p>
            <a:endParaRPr lang="en-US" sz="1200" dirty="0"/>
          </a:p>
        </p:txBody>
      </p:sp>
      <p:pic>
        <p:nvPicPr>
          <p:cNvPr id="18" name="Picture 17">
            <a:extLst>
              <a:ext uri="{FF2B5EF4-FFF2-40B4-BE49-F238E27FC236}">
                <a16:creationId xmlns:a16="http://schemas.microsoft.com/office/drawing/2014/main" id="{928515E6-C83E-2AAB-6701-69D54187A0F6}"/>
              </a:ext>
            </a:extLst>
          </p:cNvPr>
          <p:cNvPicPr>
            <a:picLocks noChangeAspect="1"/>
          </p:cNvPicPr>
          <p:nvPr/>
        </p:nvPicPr>
        <p:blipFill>
          <a:blip r:embed="rId5"/>
          <a:stretch>
            <a:fillRect/>
          </a:stretch>
        </p:blipFill>
        <p:spPr>
          <a:xfrm>
            <a:off x="4983754" y="1892715"/>
            <a:ext cx="2224491" cy="2242486"/>
          </a:xfrm>
          <a:prstGeom prst="rect">
            <a:avLst/>
          </a:prstGeom>
        </p:spPr>
      </p:pic>
      <p:pic>
        <p:nvPicPr>
          <p:cNvPr id="33" name="Picture 32">
            <a:extLst>
              <a:ext uri="{FF2B5EF4-FFF2-40B4-BE49-F238E27FC236}">
                <a16:creationId xmlns:a16="http://schemas.microsoft.com/office/drawing/2014/main" id="{67C4AFFA-74E5-4423-6529-C6DB2D768D37}"/>
              </a:ext>
            </a:extLst>
          </p:cNvPr>
          <p:cNvPicPr>
            <a:picLocks noChangeAspect="1"/>
          </p:cNvPicPr>
          <p:nvPr/>
        </p:nvPicPr>
        <p:blipFill>
          <a:blip r:embed="rId6"/>
          <a:stretch>
            <a:fillRect/>
          </a:stretch>
        </p:blipFill>
        <p:spPr>
          <a:xfrm>
            <a:off x="1217935" y="1740139"/>
            <a:ext cx="2207452" cy="24752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TỔNG QUAN ĐỒ ÁN</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MỤC TIÊU VÀ CAM KẾT MINH BẠCH</a:t>
            </a:r>
            <a:endParaRPr lang="en-US" sz="3000" dirty="0"/>
          </a:p>
        </p:txBody>
      </p:sp>
      <p:sp>
        <p:nvSpPr>
          <p:cNvPr id="5" name="Shape 2"/>
          <p:cNvSpPr/>
          <p:nvPr/>
        </p:nvSpPr>
        <p:spPr>
          <a:xfrm>
            <a:off x="548640" y="1600200"/>
            <a:ext cx="3546043" cy="2834640"/>
          </a:xfrm>
          <a:prstGeom prst="roundRect">
            <a:avLst>
              <a:gd name="adj" fmla="val 3226"/>
            </a:avLst>
          </a:prstGeom>
          <a:solidFill>
            <a:srgbClr val="F8FAFC"/>
          </a:solidFill>
          <a:ln w="12700">
            <a:solidFill>
              <a:srgbClr val="E2E8F0"/>
            </a:solidFill>
            <a:prstDash val="solid"/>
          </a:ln>
        </p:spPr>
        <p:txBody>
          <a:bodyPr/>
          <a:lstStyle/>
          <a:p>
            <a:endParaRPr lang="en-US"/>
          </a:p>
        </p:txBody>
      </p:sp>
      <p:sp>
        <p:nvSpPr>
          <p:cNvPr id="6" name="Shape 3"/>
          <p:cNvSpPr/>
          <p:nvPr/>
        </p:nvSpPr>
        <p:spPr>
          <a:xfrm>
            <a:off x="822960" y="1874520"/>
            <a:ext cx="420624" cy="420624"/>
          </a:xfrm>
          <a:prstGeom prst="ellipse">
            <a:avLst/>
          </a:prstGeom>
          <a:solidFill>
            <a:srgbClr val="E0F2FE"/>
          </a:solidFill>
          <a:ln w="12700">
            <a:solidFill>
              <a:srgbClr val="E0F2F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3544" y="1975104"/>
            <a:ext cx="219456" cy="219456"/>
          </a:xfrm>
          <a:prstGeom prst="rect">
            <a:avLst/>
          </a:prstGeom>
        </p:spPr>
      </p:pic>
      <p:sp>
        <p:nvSpPr>
          <p:cNvPr id="8" name="Text 4"/>
          <p:cNvSpPr txBox="1"/>
          <p:nvPr/>
        </p:nvSpPr>
        <p:spPr>
          <a:xfrm>
            <a:off x="1371600" y="1874520"/>
            <a:ext cx="246888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Mục tiêu nghiên cứu</a:t>
            </a:r>
            <a:endParaRPr lang="en-US" sz="1600" dirty="0"/>
          </a:p>
        </p:txBody>
      </p:sp>
      <p:sp>
        <p:nvSpPr>
          <p:cNvPr id="9" name="Text 5"/>
          <p:cNvSpPr txBox="1"/>
          <p:nvPr/>
        </p:nvSpPr>
        <p:spPr>
          <a:xfrm>
            <a:off x="822960" y="2560320"/>
            <a:ext cx="3017520" cy="1737360"/>
          </a:xfrm>
          <a:prstGeom prst="rect">
            <a:avLst/>
          </a:prstGeom>
          <a:noFill/>
          <a:ln/>
        </p:spPr>
        <p:txBody>
          <a:bodyPr wrap="square" lIns="0" tIns="0" rIns="0" bIns="0" rtlCol="0" anchor="t"/>
          <a:lstStyle/>
          <a:p>
            <a:pPr marL="0" indent="0">
              <a:buNone/>
            </a:pPr>
            <a:r>
              <a:rPr lang="en-US" sz="1800" dirty="0">
                <a:solidFill>
                  <a:srgbClr val="475569"/>
                </a:solidFill>
                <a:latin typeface="Calibri" pitchFamily="34" charset="0"/>
                <a:ea typeface="Calibri" pitchFamily="34" charset="-122"/>
                <a:cs typeface="Calibri" pitchFamily="34" charset="-120"/>
              </a:rPr>
              <a:t>Xác định các yếu tố thời gian, mùa và thời tiết ảnh hưởng chính đến số lượt thuê xe theo từng giờ.</a:t>
            </a:r>
            <a:endParaRPr lang="en-US" sz="1800" dirty="0"/>
          </a:p>
        </p:txBody>
      </p:sp>
      <p:sp>
        <p:nvSpPr>
          <p:cNvPr id="10" name="Shape 6"/>
          <p:cNvSpPr/>
          <p:nvPr/>
        </p:nvSpPr>
        <p:spPr>
          <a:xfrm>
            <a:off x="4323283" y="1600200"/>
            <a:ext cx="3546043" cy="2834640"/>
          </a:xfrm>
          <a:prstGeom prst="roundRect">
            <a:avLst>
              <a:gd name="adj" fmla="val 3226"/>
            </a:avLst>
          </a:prstGeom>
          <a:solidFill>
            <a:srgbClr val="F8FAFC"/>
          </a:solidFill>
          <a:ln w="12700">
            <a:solidFill>
              <a:srgbClr val="E2E8F0"/>
            </a:solidFill>
            <a:prstDash val="solid"/>
          </a:ln>
        </p:spPr>
        <p:txBody>
          <a:bodyPr/>
          <a:lstStyle/>
          <a:p>
            <a:endParaRPr lang="en-US"/>
          </a:p>
        </p:txBody>
      </p:sp>
      <p:sp>
        <p:nvSpPr>
          <p:cNvPr id="11" name="Shape 7"/>
          <p:cNvSpPr/>
          <p:nvPr/>
        </p:nvSpPr>
        <p:spPr>
          <a:xfrm>
            <a:off x="4597603" y="1874520"/>
            <a:ext cx="420624" cy="420624"/>
          </a:xfrm>
          <a:prstGeom prst="ellipse">
            <a:avLst/>
          </a:prstGeom>
          <a:solidFill>
            <a:srgbClr val="CCFBF1"/>
          </a:solidFill>
          <a:ln w="12700">
            <a:solidFill>
              <a:srgbClr val="CCFBF1"/>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698187" y="1975104"/>
            <a:ext cx="219456" cy="219456"/>
          </a:xfrm>
          <a:prstGeom prst="rect">
            <a:avLst/>
          </a:prstGeom>
        </p:spPr>
      </p:pic>
      <p:sp>
        <p:nvSpPr>
          <p:cNvPr id="13" name="Text 8"/>
          <p:cNvSpPr txBox="1"/>
          <p:nvPr/>
        </p:nvSpPr>
        <p:spPr>
          <a:xfrm>
            <a:off x="5146243" y="1874520"/>
            <a:ext cx="246888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Phương pháp thực hiện</a:t>
            </a:r>
            <a:endParaRPr lang="en-US" sz="1600" dirty="0"/>
          </a:p>
        </p:txBody>
      </p:sp>
      <p:sp>
        <p:nvSpPr>
          <p:cNvPr id="14" name="Text 9"/>
          <p:cNvSpPr txBox="1"/>
          <p:nvPr/>
        </p:nvSpPr>
        <p:spPr>
          <a:xfrm>
            <a:off x="4597603" y="2560320"/>
            <a:ext cx="3017520" cy="1737360"/>
          </a:xfrm>
          <a:prstGeom prst="rect">
            <a:avLst/>
          </a:prstGeom>
          <a:noFill/>
          <a:ln/>
        </p:spPr>
        <p:txBody>
          <a:bodyPr wrap="square" lIns="0" tIns="0" rIns="0" bIns="0" rtlCol="0" anchor="t"/>
          <a:lstStyle/>
          <a:p>
            <a:pPr marL="0" indent="0">
              <a:buNone/>
            </a:pPr>
            <a:r>
              <a:rPr lang="en-US" sz="1800" dirty="0">
                <a:solidFill>
                  <a:srgbClr val="475569"/>
                </a:solidFill>
                <a:latin typeface="Calibri" pitchFamily="34" charset="0"/>
                <a:ea typeface="Calibri" pitchFamily="34" charset="-122"/>
                <a:cs typeface="Calibri" pitchFamily="34" charset="-120"/>
              </a:rPr>
              <a:t>Tiền xử lý → Thống kê và trực quan → ANOVA → 3 mô hình hồi quy dự đoán.</a:t>
            </a:r>
            <a:endParaRPr lang="en-US" sz="1800" dirty="0"/>
          </a:p>
        </p:txBody>
      </p:sp>
      <p:sp>
        <p:nvSpPr>
          <p:cNvPr id="15" name="Shape 10"/>
          <p:cNvSpPr/>
          <p:nvPr/>
        </p:nvSpPr>
        <p:spPr>
          <a:xfrm>
            <a:off x="8097926" y="1600200"/>
            <a:ext cx="3546043" cy="2834640"/>
          </a:xfrm>
          <a:prstGeom prst="roundRect">
            <a:avLst>
              <a:gd name="adj" fmla="val 3226"/>
            </a:avLst>
          </a:prstGeom>
          <a:solidFill>
            <a:srgbClr val="F8FAFC"/>
          </a:solidFill>
          <a:ln w="12700">
            <a:solidFill>
              <a:srgbClr val="E2E8F0"/>
            </a:solidFill>
            <a:prstDash val="solid"/>
          </a:ln>
        </p:spPr>
        <p:txBody>
          <a:bodyPr/>
          <a:lstStyle/>
          <a:p>
            <a:endParaRPr lang="en-US"/>
          </a:p>
        </p:txBody>
      </p:sp>
      <p:sp>
        <p:nvSpPr>
          <p:cNvPr id="16" name="Shape 11"/>
          <p:cNvSpPr/>
          <p:nvPr/>
        </p:nvSpPr>
        <p:spPr>
          <a:xfrm>
            <a:off x="8372246" y="1874520"/>
            <a:ext cx="420624" cy="420624"/>
          </a:xfrm>
          <a:prstGeom prst="ellipse">
            <a:avLst/>
          </a:prstGeom>
          <a:solidFill>
            <a:srgbClr val="FEF3C7"/>
          </a:solidFill>
          <a:ln w="12700">
            <a:solidFill>
              <a:srgbClr val="FEF3C7"/>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472830" y="1975104"/>
            <a:ext cx="219456" cy="219456"/>
          </a:xfrm>
          <a:prstGeom prst="rect">
            <a:avLst/>
          </a:prstGeom>
        </p:spPr>
      </p:pic>
      <p:sp>
        <p:nvSpPr>
          <p:cNvPr id="18" name="Text 12"/>
          <p:cNvSpPr txBox="1"/>
          <p:nvPr/>
        </p:nvSpPr>
        <p:spPr>
          <a:xfrm>
            <a:off x="8920886" y="1874520"/>
            <a:ext cx="246888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Kết quả chính</a:t>
            </a:r>
            <a:endParaRPr lang="en-US" sz="1600" dirty="0"/>
          </a:p>
        </p:txBody>
      </p:sp>
      <p:sp>
        <p:nvSpPr>
          <p:cNvPr id="19" name="Text 13"/>
          <p:cNvSpPr txBox="1"/>
          <p:nvPr/>
        </p:nvSpPr>
        <p:spPr>
          <a:xfrm>
            <a:off x="8372246" y="2560320"/>
            <a:ext cx="3017520" cy="1737360"/>
          </a:xfrm>
          <a:prstGeom prst="rect">
            <a:avLst/>
          </a:prstGeom>
          <a:noFill/>
          <a:ln/>
        </p:spPr>
        <p:txBody>
          <a:bodyPr wrap="square" lIns="0" tIns="0" rIns="0" bIns="0" rtlCol="0" anchor="t"/>
          <a:lstStyle/>
          <a:p>
            <a:pPr marL="0" indent="0">
              <a:buNone/>
            </a:pPr>
            <a:r>
              <a:rPr lang="en-US" sz="1800" dirty="0">
                <a:solidFill>
                  <a:srgbClr val="475569"/>
                </a:solidFill>
                <a:latin typeface="Calibri" pitchFamily="34" charset="0"/>
                <a:ea typeface="Calibri" pitchFamily="34" charset="-122"/>
                <a:cs typeface="Calibri" pitchFamily="34" charset="-120"/>
              </a:rPr>
              <a:t>Đỉnh nhu cầu lúc 8h và 18h; mùa Hạ gấp 4,6 lần mùa Đông; mô hình Ridge đạt R² = 0,664.</a:t>
            </a:r>
            <a:endParaRPr lang="en-US" sz="1800" dirty="0"/>
          </a:p>
        </p:txBody>
      </p:sp>
      <p:sp>
        <p:nvSpPr>
          <p:cNvPr id="20" name="Shape 14"/>
          <p:cNvSpPr/>
          <p:nvPr/>
        </p:nvSpPr>
        <p:spPr>
          <a:xfrm>
            <a:off x="548640" y="4754880"/>
            <a:ext cx="11094415" cy="1417320"/>
          </a:xfrm>
          <a:prstGeom prst="roundRect">
            <a:avLst>
              <a:gd name="adj" fmla="val 6452"/>
            </a:avLst>
          </a:prstGeom>
          <a:solidFill>
            <a:srgbClr val="F0FDF4"/>
          </a:solidFill>
          <a:ln w="12700">
            <a:solidFill>
              <a:srgbClr val="BBF7D0"/>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68680" y="5120640"/>
            <a:ext cx="502920" cy="502920"/>
          </a:xfrm>
          <a:prstGeom prst="rect">
            <a:avLst/>
          </a:prstGeom>
        </p:spPr>
      </p:pic>
      <p:sp>
        <p:nvSpPr>
          <p:cNvPr id="22" name="Text 15"/>
          <p:cNvSpPr txBox="1"/>
          <p:nvPr/>
        </p:nvSpPr>
        <p:spPr>
          <a:xfrm>
            <a:off x="1645920" y="4937760"/>
            <a:ext cx="9601200" cy="365760"/>
          </a:xfrm>
          <a:prstGeom prst="rect">
            <a:avLst/>
          </a:prstGeom>
          <a:noFill/>
          <a:ln/>
        </p:spPr>
        <p:txBody>
          <a:bodyPr wrap="square" lIns="0" tIns="0" rIns="0" bIns="0" rtlCol="0" anchor="t"/>
          <a:lstStyle/>
          <a:p>
            <a:pPr marL="0" indent="0">
              <a:buNone/>
            </a:pPr>
            <a:r>
              <a:rPr lang="en-US" sz="1800" b="1" dirty="0">
                <a:solidFill>
                  <a:srgbClr val="15803D"/>
                </a:solidFill>
                <a:latin typeface="Calibri" pitchFamily="34" charset="0"/>
                <a:ea typeface="Calibri" pitchFamily="34" charset="-122"/>
                <a:cs typeface="Calibri" pitchFamily="34" charset="-120"/>
              </a:rPr>
              <a:t>Cam kết minh bạch dữ liệu và công cụ</a:t>
            </a:r>
            <a:endParaRPr lang="en-US" sz="1800" dirty="0"/>
          </a:p>
        </p:txBody>
      </p:sp>
      <p:sp>
        <p:nvSpPr>
          <p:cNvPr id="23" name="Text 16"/>
          <p:cNvSpPr txBox="1"/>
          <p:nvPr/>
        </p:nvSpPr>
        <p:spPr>
          <a:xfrm>
            <a:off x="1645920" y="5303520"/>
            <a:ext cx="9692640" cy="841248"/>
          </a:xfrm>
          <a:prstGeom prst="rect">
            <a:avLst/>
          </a:prstGeom>
          <a:noFill/>
          <a:ln/>
        </p:spPr>
        <p:txBody>
          <a:bodyPr wrap="square" lIns="0" tIns="0" rIns="0" bIns="0" rtlCol="0" anchor="t"/>
          <a:lstStyle/>
          <a:p>
            <a:pPr marL="0" indent="0">
              <a:buNone/>
            </a:pPr>
            <a:r>
              <a:rPr lang="en-US" sz="1600" dirty="0">
                <a:solidFill>
                  <a:srgbClr val="166534"/>
                </a:solidFill>
                <a:latin typeface="Calibri" pitchFamily="34" charset="0"/>
                <a:ea typeface="Calibri" pitchFamily="34" charset="-122"/>
                <a:cs typeface="Calibri" pitchFamily="34" charset="-120"/>
              </a:rPr>
              <a:t>Dữ liệu UCI công khai (CC BY 4.0). Nhóm tự thực hiện tiền xử lý, EDA và mô hình. Sử dụng AI: có tham khảo AI để so sánh thuật toán hồi quy và hoàn thiện cách trình bày; mã nguồn, số liệu và nhận xét do nhóm tự chạy và chịu trách nhiệm.</a:t>
            </a:r>
            <a:endParaRPr lang="en-US" sz="1600" dirty="0"/>
          </a:p>
        </p:txBody>
      </p:sp>
      <p:sp>
        <p:nvSpPr>
          <p:cNvPr id="24" name="Freeform 9">
            <a:extLst>
              <a:ext uri="{FF2B5EF4-FFF2-40B4-BE49-F238E27FC236}">
                <a16:creationId xmlns:a16="http://schemas.microsoft.com/office/drawing/2014/main" id="{87160651-3D4A-AC73-7D5E-2D09F0B34C55}"/>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7"/>
            <a:stretch>
              <a:fillRect b="-51881"/>
            </a:stretch>
          </a:blipFill>
        </p:spPr>
        <p:txBody>
          <a:bodyPr/>
          <a:lstStyle/>
          <a:p>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NGUỒN VÀ ĐẶC TRƯNG</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MÔ TẢ BỘ DỮ LIỆU SEOUL BIKE SHARING</a:t>
            </a:r>
            <a:endParaRPr lang="en-US" sz="3000" dirty="0"/>
          </a:p>
        </p:txBody>
      </p:sp>
      <p:sp>
        <p:nvSpPr>
          <p:cNvPr id="5" name="Shape 2"/>
          <p:cNvSpPr/>
          <p:nvPr/>
        </p:nvSpPr>
        <p:spPr>
          <a:xfrm>
            <a:off x="548640" y="1600200"/>
            <a:ext cx="3546043" cy="1600200"/>
          </a:xfrm>
          <a:prstGeom prst="roundRect">
            <a:avLst>
              <a:gd name="adj" fmla="val 5714"/>
            </a:avLst>
          </a:prstGeom>
          <a:solidFill>
            <a:srgbClr val="F8FAFC"/>
          </a:solidFill>
          <a:ln w="12700">
            <a:solidFill>
              <a:srgbClr val="E2E8F0"/>
            </a:solidFill>
            <a:prstDash val="solid"/>
          </a:ln>
        </p:spPr>
        <p:txBody>
          <a:bodyPr/>
          <a:lstStyle/>
          <a:p>
            <a:endParaRPr lang="en-US"/>
          </a:p>
        </p:txBody>
      </p:sp>
      <p:sp>
        <p:nvSpPr>
          <p:cNvPr id="6" name="Text 3"/>
          <p:cNvSpPr txBox="1"/>
          <p:nvPr/>
        </p:nvSpPr>
        <p:spPr>
          <a:xfrm>
            <a:off x="822960" y="1783080"/>
            <a:ext cx="3017520" cy="777240"/>
          </a:xfrm>
          <a:prstGeom prst="rect">
            <a:avLst/>
          </a:prstGeom>
          <a:noFill/>
          <a:ln/>
        </p:spPr>
        <p:txBody>
          <a:bodyPr wrap="square" lIns="0" tIns="0" rIns="0" bIns="0" rtlCol="0" anchor="t"/>
          <a:lstStyle/>
          <a:p>
            <a:pPr marL="0" indent="0">
              <a:buNone/>
            </a:pPr>
            <a:r>
              <a:rPr lang="en-US" sz="4600" b="1" dirty="0">
                <a:solidFill>
                  <a:srgbClr val="0F172A"/>
                </a:solidFill>
                <a:latin typeface="Courier New" pitchFamily="34" charset="0"/>
                <a:ea typeface="Courier New" pitchFamily="34" charset="-122"/>
                <a:cs typeface="Courier New" pitchFamily="34" charset="-120"/>
              </a:rPr>
              <a:t>8.760</a:t>
            </a:r>
            <a:endParaRPr lang="en-US" sz="4600" dirty="0"/>
          </a:p>
        </p:txBody>
      </p:sp>
      <p:sp>
        <p:nvSpPr>
          <p:cNvPr id="7" name="Text 4"/>
          <p:cNvSpPr txBox="1"/>
          <p:nvPr/>
        </p:nvSpPr>
        <p:spPr>
          <a:xfrm>
            <a:off x="822960" y="2697480"/>
            <a:ext cx="3108960" cy="457200"/>
          </a:xfrm>
          <a:prstGeom prst="rect">
            <a:avLst/>
          </a:prstGeom>
          <a:noFill/>
          <a:ln/>
        </p:spPr>
        <p:txBody>
          <a:bodyPr wrap="square" lIns="0" tIns="0" rIns="0" bIns="0" rtlCol="0" anchor="t"/>
          <a:lstStyle/>
          <a:p>
            <a:pPr marL="0" indent="0">
              <a:buNone/>
            </a:pPr>
            <a:r>
              <a:rPr lang="en-US" sz="1500" dirty="0">
                <a:solidFill>
                  <a:srgbClr val="475569"/>
                </a:solidFill>
                <a:latin typeface="Calibri" pitchFamily="34" charset="0"/>
                <a:ea typeface="Calibri" pitchFamily="34" charset="-122"/>
                <a:cs typeface="Calibri" pitchFamily="34" charset="-120"/>
              </a:rPr>
              <a:t>Số dòng (365 ngày × 24 giờ)</a:t>
            </a:r>
            <a:endParaRPr lang="en-US" sz="1500" dirty="0"/>
          </a:p>
        </p:txBody>
      </p:sp>
      <p:sp>
        <p:nvSpPr>
          <p:cNvPr id="8" name="Shape 5"/>
          <p:cNvSpPr/>
          <p:nvPr/>
        </p:nvSpPr>
        <p:spPr>
          <a:xfrm>
            <a:off x="4323283" y="1600200"/>
            <a:ext cx="3546043" cy="1600200"/>
          </a:xfrm>
          <a:prstGeom prst="roundRect">
            <a:avLst>
              <a:gd name="adj" fmla="val 5714"/>
            </a:avLst>
          </a:prstGeom>
          <a:solidFill>
            <a:srgbClr val="F8FAFC"/>
          </a:solidFill>
          <a:ln w="12700">
            <a:solidFill>
              <a:srgbClr val="E2E8F0"/>
            </a:solidFill>
            <a:prstDash val="solid"/>
          </a:ln>
        </p:spPr>
        <p:txBody>
          <a:bodyPr/>
          <a:lstStyle/>
          <a:p>
            <a:endParaRPr lang="en-US"/>
          </a:p>
        </p:txBody>
      </p:sp>
      <p:sp>
        <p:nvSpPr>
          <p:cNvPr id="9" name="Text 6"/>
          <p:cNvSpPr txBox="1"/>
          <p:nvPr/>
        </p:nvSpPr>
        <p:spPr>
          <a:xfrm>
            <a:off x="4597603" y="1783080"/>
            <a:ext cx="3017520" cy="777240"/>
          </a:xfrm>
          <a:prstGeom prst="rect">
            <a:avLst/>
          </a:prstGeom>
          <a:noFill/>
          <a:ln/>
        </p:spPr>
        <p:txBody>
          <a:bodyPr wrap="square" lIns="0" tIns="0" rIns="0" bIns="0" rtlCol="0" anchor="t"/>
          <a:lstStyle/>
          <a:p>
            <a:pPr marL="0" indent="0">
              <a:buNone/>
            </a:pPr>
            <a:r>
              <a:rPr lang="en-US" sz="4600" b="1" dirty="0">
                <a:solidFill>
                  <a:srgbClr val="0F172A"/>
                </a:solidFill>
                <a:latin typeface="Courier New" pitchFamily="34" charset="0"/>
                <a:ea typeface="Courier New" pitchFamily="34" charset="-122"/>
                <a:cs typeface="Courier New" pitchFamily="34" charset="-120"/>
              </a:rPr>
              <a:t>14</a:t>
            </a:r>
            <a:endParaRPr lang="en-US" sz="4600" dirty="0"/>
          </a:p>
        </p:txBody>
      </p:sp>
      <p:sp>
        <p:nvSpPr>
          <p:cNvPr id="10" name="Text 7"/>
          <p:cNvSpPr txBox="1"/>
          <p:nvPr/>
        </p:nvSpPr>
        <p:spPr>
          <a:xfrm>
            <a:off x="4597603" y="2697480"/>
            <a:ext cx="3108960" cy="457200"/>
          </a:xfrm>
          <a:prstGeom prst="rect">
            <a:avLst/>
          </a:prstGeom>
          <a:noFill/>
          <a:ln/>
        </p:spPr>
        <p:txBody>
          <a:bodyPr wrap="square" lIns="0" tIns="0" rIns="0" bIns="0" rtlCol="0" anchor="t"/>
          <a:lstStyle/>
          <a:p>
            <a:pPr marL="0" indent="0">
              <a:buNone/>
            </a:pPr>
            <a:r>
              <a:rPr lang="en-US" sz="1500" dirty="0">
                <a:solidFill>
                  <a:srgbClr val="475569"/>
                </a:solidFill>
                <a:latin typeface="Calibri" pitchFamily="34" charset="0"/>
                <a:ea typeface="Calibri" pitchFamily="34" charset="-122"/>
                <a:cs typeface="Calibri" pitchFamily="34" charset="-120"/>
              </a:rPr>
              <a:t>Số cột dữ liệu gốc (UCI Repository)</a:t>
            </a:r>
            <a:endParaRPr lang="en-US" sz="1500" dirty="0"/>
          </a:p>
        </p:txBody>
      </p:sp>
      <p:sp>
        <p:nvSpPr>
          <p:cNvPr id="11" name="Shape 8"/>
          <p:cNvSpPr/>
          <p:nvPr/>
        </p:nvSpPr>
        <p:spPr>
          <a:xfrm>
            <a:off x="8097926" y="1600200"/>
            <a:ext cx="3546043" cy="1600200"/>
          </a:xfrm>
          <a:prstGeom prst="roundRect">
            <a:avLst>
              <a:gd name="adj" fmla="val 5714"/>
            </a:avLst>
          </a:prstGeom>
          <a:solidFill>
            <a:srgbClr val="F8FAFC"/>
          </a:solidFill>
          <a:ln w="12700">
            <a:solidFill>
              <a:srgbClr val="E2E8F0"/>
            </a:solidFill>
            <a:prstDash val="solid"/>
          </a:ln>
        </p:spPr>
        <p:txBody>
          <a:bodyPr/>
          <a:lstStyle/>
          <a:p>
            <a:endParaRPr lang="en-US"/>
          </a:p>
        </p:txBody>
      </p:sp>
      <p:sp>
        <p:nvSpPr>
          <p:cNvPr id="12" name="Text 9"/>
          <p:cNvSpPr txBox="1"/>
          <p:nvPr/>
        </p:nvSpPr>
        <p:spPr>
          <a:xfrm>
            <a:off x="8372246" y="1783080"/>
            <a:ext cx="3017520" cy="777240"/>
          </a:xfrm>
          <a:prstGeom prst="rect">
            <a:avLst/>
          </a:prstGeom>
          <a:noFill/>
          <a:ln/>
        </p:spPr>
        <p:txBody>
          <a:bodyPr wrap="square" lIns="0" tIns="0" rIns="0" bIns="0" rtlCol="0" anchor="t"/>
          <a:lstStyle/>
          <a:p>
            <a:pPr marL="0" indent="0">
              <a:buNone/>
            </a:pPr>
            <a:r>
              <a:rPr lang="en-US" sz="4600" b="1" dirty="0">
                <a:solidFill>
                  <a:srgbClr val="0284C7"/>
                </a:solidFill>
                <a:latin typeface="Courier New" pitchFamily="34" charset="0"/>
                <a:ea typeface="Courier New" pitchFamily="34" charset="-122"/>
                <a:cs typeface="Courier New" pitchFamily="34" charset="-120"/>
              </a:rPr>
              <a:t>704,6</a:t>
            </a:r>
            <a:endParaRPr lang="en-US" sz="4600" dirty="0"/>
          </a:p>
        </p:txBody>
      </p:sp>
      <p:sp>
        <p:nvSpPr>
          <p:cNvPr id="13" name="Text 10"/>
          <p:cNvSpPr txBox="1"/>
          <p:nvPr/>
        </p:nvSpPr>
        <p:spPr>
          <a:xfrm>
            <a:off x="8372246" y="2697480"/>
            <a:ext cx="3108960" cy="457200"/>
          </a:xfrm>
          <a:prstGeom prst="rect">
            <a:avLst/>
          </a:prstGeom>
          <a:noFill/>
          <a:ln/>
        </p:spPr>
        <p:txBody>
          <a:bodyPr wrap="square" lIns="0" tIns="0" rIns="0" bIns="0" rtlCol="0" anchor="t"/>
          <a:lstStyle/>
          <a:p>
            <a:pPr marL="0" indent="0">
              <a:buNone/>
            </a:pPr>
            <a:r>
              <a:rPr lang="en-US" sz="1500" dirty="0">
                <a:solidFill>
                  <a:srgbClr val="475569"/>
                </a:solidFill>
                <a:latin typeface="Calibri" pitchFamily="34" charset="0"/>
                <a:ea typeface="Calibri" pitchFamily="34" charset="-122"/>
                <a:cs typeface="Calibri" pitchFamily="34" charset="-120"/>
              </a:rPr>
              <a:t>Trung bình lượt thuê/giờ (0 – 3.556)</a:t>
            </a:r>
            <a:endParaRPr lang="en-US" sz="1500" dirty="0"/>
          </a:p>
        </p:txBody>
      </p:sp>
      <p:sp>
        <p:nvSpPr>
          <p:cNvPr id="14" name="Shape 11"/>
          <p:cNvSpPr/>
          <p:nvPr/>
        </p:nvSpPr>
        <p:spPr>
          <a:xfrm>
            <a:off x="548640" y="3429000"/>
            <a:ext cx="5431536" cy="2880360"/>
          </a:xfrm>
          <a:prstGeom prst="roundRect">
            <a:avLst>
              <a:gd name="adj" fmla="val 3175"/>
            </a:avLst>
          </a:prstGeom>
          <a:solidFill>
            <a:srgbClr val="F8FAFC"/>
          </a:solidFill>
          <a:ln w="12700">
            <a:solidFill>
              <a:srgbClr val="E2E8F0"/>
            </a:solidFill>
            <a:prstDash val="solid"/>
          </a:ln>
        </p:spPr>
        <p:txBody>
          <a:bodyPr/>
          <a:lstStyle/>
          <a:p>
            <a:endParaRPr lang="en-US"/>
          </a:p>
        </p:txBody>
      </p:sp>
      <p:sp>
        <p:nvSpPr>
          <p:cNvPr id="15" name="Shape 12"/>
          <p:cNvSpPr/>
          <p:nvPr/>
        </p:nvSpPr>
        <p:spPr>
          <a:xfrm>
            <a:off x="822960" y="3657600"/>
            <a:ext cx="420624" cy="420624"/>
          </a:xfrm>
          <a:prstGeom prst="ellipse">
            <a:avLst/>
          </a:prstGeom>
          <a:solidFill>
            <a:srgbClr val="E0F2FE"/>
          </a:solidFill>
          <a:ln w="12700">
            <a:solidFill>
              <a:srgbClr val="E0F2FE"/>
            </a:solidFill>
            <a:prstDash val="solid"/>
          </a:ln>
        </p:spPr>
        <p:txBody>
          <a:bodyPr/>
          <a:lstStyle/>
          <a:p>
            <a:endParaRPr lang="en-US"/>
          </a:p>
        </p:txBody>
      </p:sp>
      <p:pic>
        <p:nvPicPr>
          <p:cNvPr id="16" name="Image 0" descr="preencoded.png"/>
          <p:cNvPicPr>
            <a:picLocks noChangeAspect="1"/>
          </p:cNvPicPr>
          <p:nvPr/>
        </p:nvPicPr>
        <p:blipFill>
          <a:blip r:embed="rId3"/>
          <a:stretch>
            <a:fillRect/>
          </a:stretch>
        </p:blipFill>
        <p:spPr>
          <a:xfrm>
            <a:off x="923544" y="3758184"/>
            <a:ext cx="219456" cy="219456"/>
          </a:xfrm>
          <a:prstGeom prst="rect">
            <a:avLst/>
          </a:prstGeom>
        </p:spPr>
      </p:pic>
      <p:sp>
        <p:nvSpPr>
          <p:cNvPr id="17" name="Text 13"/>
          <p:cNvSpPr txBox="1"/>
          <p:nvPr/>
        </p:nvSpPr>
        <p:spPr>
          <a:xfrm>
            <a:off x="1371600" y="3657600"/>
            <a:ext cx="43891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Phân nhóm biến dữ liệu</a:t>
            </a:r>
            <a:endParaRPr lang="en-US" sz="1600" dirty="0"/>
          </a:p>
        </p:txBody>
      </p:sp>
      <p:sp>
        <p:nvSpPr>
          <p:cNvPr id="18" name="Text 14"/>
          <p:cNvSpPr txBox="1"/>
          <p:nvPr/>
        </p:nvSpPr>
        <p:spPr>
          <a:xfrm>
            <a:off x="822960" y="4251960"/>
            <a:ext cx="4937760" cy="1920240"/>
          </a:xfrm>
          <a:prstGeom prst="rect">
            <a:avLst/>
          </a:prstGeom>
          <a:noFill/>
          <a:ln/>
        </p:spPr>
        <p:txBody>
          <a:bodyPr wrap="square" lIns="0" tIns="0" rIns="0" bIns="0" rtlCol="0" anchor="t"/>
          <a:lstStyle/>
          <a:p>
            <a:pPr marL="0" indent="0">
              <a:spcAft>
                <a:spcPts val="800"/>
              </a:spcAft>
              <a:buNone/>
            </a:pPr>
            <a:r>
              <a:rPr lang="en-US" sz="1700" b="1" dirty="0">
                <a:solidFill>
                  <a:srgbClr val="0F172A"/>
                </a:solidFill>
                <a:latin typeface="Calibri" pitchFamily="34" charset="0"/>
                <a:ea typeface="Calibri" pitchFamily="34" charset="-122"/>
                <a:cs typeface="Calibri" pitchFamily="34" charset="-120"/>
              </a:rPr>
              <a:t>Thời gian: </a:t>
            </a:r>
            <a:r>
              <a:rPr lang="en-US" sz="1700" dirty="0">
                <a:solidFill>
                  <a:srgbClr val="475569"/>
                </a:solidFill>
                <a:latin typeface="Calibri" pitchFamily="34" charset="0"/>
                <a:ea typeface="Calibri" pitchFamily="34" charset="-122"/>
                <a:cs typeface="Calibri" pitchFamily="34" charset="-120"/>
              </a:rPr>
              <a:t>Date, Hour (0–23h)</a:t>
            </a:r>
            <a:endParaRPr lang="en-US" sz="1700" dirty="0"/>
          </a:p>
          <a:p>
            <a:pPr marL="0" indent="0">
              <a:spcAft>
                <a:spcPts val="800"/>
              </a:spcAft>
              <a:buNone/>
            </a:pPr>
            <a:r>
              <a:rPr lang="en-US" sz="1700" b="1" dirty="0">
                <a:solidFill>
                  <a:srgbClr val="0F172A"/>
                </a:solidFill>
                <a:latin typeface="Calibri" pitchFamily="34" charset="0"/>
                <a:ea typeface="Calibri" pitchFamily="34" charset="-122"/>
                <a:cs typeface="Calibri" pitchFamily="34" charset="-120"/>
              </a:rPr>
              <a:t>Thời tiết (8): </a:t>
            </a:r>
            <a:r>
              <a:rPr lang="en-US" sz="1700" dirty="0">
                <a:solidFill>
                  <a:srgbClr val="475569"/>
                </a:solidFill>
                <a:latin typeface="Calibri" pitchFamily="34" charset="0"/>
                <a:ea typeface="Calibri" pitchFamily="34" charset="-122"/>
                <a:cs typeface="Calibri" pitchFamily="34" charset="-120"/>
              </a:rPr>
              <a:t>nhiệt độ, độ ẩm, gió, tầm nhìn, điểm sương, bức xạ, mưa, tuyết</a:t>
            </a:r>
            <a:endParaRPr lang="en-US" sz="1700" dirty="0"/>
          </a:p>
          <a:p>
            <a:pPr marL="0" indent="0">
              <a:spcAft>
                <a:spcPts val="800"/>
              </a:spcAft>
              <a:buNone/>
            </a:pPr>
            <a:r>
              <a:rPr lang="en-US" sz="1700" b="1" dirty="0">
                <a:solidFill>
                  <a:srgbClr val="0F172A"/>
                </a:solidFill>
                <a:latin typeface="Calibri" pitchFamily="34" charset="0"/>
                <a:ea typeface="Calibri" pitchFamily="34" charset="-122"/>
                <a:cs typeface="Calibri" pitchFamily="34" charset="-120"/>
              </a:rPr>
              <a:t>Phân loại: </a:t>
            </a:r>
            <a:r>
              <a:rPr lang="en-US" sz="1700" dirty="0">
                <a:solidFill>
                  <a:srgbClr val="475569"/>
                </a:solidFill>
                <a:latin typeface="Calibri" pitchFamily="34" charset="0"/>
                <a:ea typeface="Calibri" pitchFamily="34" charset="-122"/>
                <a:cs typeface="Calibri" pitchFamily="34" charset="-120"/>
              </a:rPr>
              <a:t>Seasons, Holiday, Functioning Day</a:t>
            </a:r>
            <a:endParaRPr lang="en-US" sz="1700" dirty="0"/>
          </a:p>
        </p:txBody>
      </p:sp>
      <p:sp>
        <p:nvSpPr>
          <p:cNvPr id="19" name="Shape 15"/>
          <p:cNvSpPr/>
          <p:nvPr/>
        </p:nvSpPr>
        <p:spPr>
          <a:xfrm>
            <a:off x="6208776" y="3429000"/>
            <a:ext cx="5431536" cy="2880360"/>
          </a:xfrm>
          <a:prstGeom prst="roundRect">
            <a:avLst>
              <a:gd name="adj" fmla="val 3175"/>
            </a:avLst>
          </a:prstGeom>
          <a:solidFill>
            <a:srgbClr val="F0FDF4"/>
          </a:solidFill>
          <a:ln w="12700">
            <a:solidFill>
              <a:srgbClr val="BBF7D0"/>
            </a:solidFill>
            <a:prstDash val="solid"/>
          </a:ln>
        </p:spPr>
        <p:txBody>
          <a:bodyPr/>
          <a:lstStyle/>
          <a:p>
            <a:endParaRPr lang="en-US"/>
          </a:p>
        </p:txBody>
      </p:sp>
      <p:sp>
        <p:nvSpPr>
          <p:cNvPr id="20" name="Shape 16"/>
          <p:cNvSpPr/>
          <p:nvPr/>
        </p:nvSpPr>
        <p:spPr>
          <a:xfrm>
            <a:off x="6483096" y="3657600"/>
            <a:ext cx="420624" cy="420624"/>
          </a:xfrm>
          <a:prstGeom prst="ellipse">
            <a:avLst/>
          </a:prstGeom>
          <a:solidFill>
            <a:srgbClr val="DCFCE7"/>
          </a:solidFill>
          <a:ln w="12700">
            <a:solidFill>
              <a:srgbClr val="DCFCE7"/>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6583680" y="3758184"/>
            <a:ext cx="219456" cy="219456"/>
          </a:xfrm>
          <a:prstGeom prst="rect">
            <a:avLst/>
          </a:prstGeom>
        </p:spPr>
      </p:pic>
      <p:sp>
        <p:nvSpPr>
          <p:cNvPr id="22" name="Text 17"/>
          <p:cNvSpPr txBox="1"/>
          <p:nvPr/>
        </p:nvSpPr>
        <p:spPr>
          <a:xfrm>
            <a:off x="7031736" y="3657600"/>
            <a:ext cx="43891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Chất lượng dữ liệu ban đầu</a:t>
            </a:r>
            <a:endParaRPr lang="en-US" sz="1600" dirty="0"/>
          </a:p>
        </p:txBody>
      </p:sp>
      <p:sp>
        <p:nvSpPr>
          <p:cNvPr id="23" name="Text 18"/>
          <p:cNvSpPr txBox="1"/>
          <p:nvPr/>
        </p:nvSpPr>
        <p:spPr>
          <a:xfrm>
            <a:off x="6483096" y="4251960"/>
            <a:ext cx="4937760" cy="1920240"/>
          </a:xfrm>
          <a:prstGeom prst="rect">
            <a:avLst/>
          </a:prstGeom>
          <a:noFill/>
          <a:ln/>
        </p:spPr>
        <p:txBody>
          <a:bodyPr wrap="square" lIns="0" tIns="0" rIns="0" bIns="0" rtlCol="0" anchor="t"/>
          <a:lstStyle/>
          <a:p>
            <a:pPr marL="0" indent="0">
              <a:spcAft>
                <a:spcPts val="1000"/>
              </a:spcAft>
              <a:buNone/>
            </a:pPr>
            <a:r>
              <a:rPr lang="en-US" sz="1700" dirty="0">
                <a:solidFill>
                  <a:srgbClr val="475569"/>
                </a:solidFill>
                <a:latin typeface="Calibri" pitchFamily="34" charset="0"/>
                <a:ea typeface="Calibri" pitchFamily="34" charset="-122"/>
                <a:cs typeface="Calibri" pitchFamily="34" charset="-120"/>
              </a:rPr>
              <a:t>Không có giá trị khuyết (missing = 0)</a:t>
            </a:r>
            <a:endParaRPr lang="en-US" sz="1700" dirty="0"/>
          </a:p>
          <a:p>
            <a:pPr marL="0" indent="0">
              <a:spcAft>
                <a:spcPts val="1000"/>
              </a:spcAft>
              <a:buNone/>
            </a:pPr>
            <a:r>
              <a:rPr lang="en-US" sz="1700" dirty="0">
                <a:solidFill>
                  <a:srgbClr val="475569"/>
                </a:solidFill>
                <a:latin typeface="Calibri" pitchFamily="34" charset="0"/>
                <a:ea typeface="Calibri" pitchFamily="34" charset="-122"/>
                <a:cs typeface="Calibri" pitchFamily="34" charset="-120"/>
              </a:rPr>
              <a:t>Không có dòng trùng lặp (duplicates = 0)</a:t>
            </a:r>
            <a:endParaRPr lang="en-US" sz="1700" dirty="0"/>
          </a:p>
          <a:p>
            <a:pPr marL="0" indent="0">
              <a:spcAft>
                <a:spcPts val="1000"/>
              </a:spcAft>
              <a:buNone/>
            </a:pPr>
            <a:r>
              <a:rPr lang="en-US" sz="1700" dirty="0">
                <a:solidFill>
                  <a:srgbClr val="475569"/>
                </a:solidFill>
                <a:latin typeface="Calibri" pitchFamily="34" charset="0"/>
                <a:ea typeface="Calibri" pitchFamily="34" charset="-122"/>
                <a:cs typeface="Calibri" pitchFamily="34" charset="-120"/>
              </a:rPr>
              <a:t>Ghi nhận liên tục từ 12/2017 đến 11/2018</a:t>
            </a:r>
            <a:endParaRPr lang="en-US" sz="1700" dirty="0"/>
          </a:p>
        </p:txBody>
      </p:sp>
      <p:sp>
        <p:nvSpPr>
          <p:cNvPr id="26" name="Freeform 9">
            <a:extLst>
              <a:ext uri="{FF2B5EF4-FFF2-40B4-BE49-F238E27FC236}">
                <a16:creationId xmlns:a16="http://schemas.microsoft.com/office/drawing/2014/main" id="{B6E344F4-8516-C4B7-981A-F699E5726905}"/>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5"/>
            <a:stretch>
              <a:fillRect b="-51881"/>
            </a:stretch>
          </a:blipFill>
        </p:spPr>
        <p:txBody>
          <a:bodyPr/>
          <a:lstStyle/>
          <a:p>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LÀM SẠCH VÀ BIẾN ĐỔI</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QUY TRÌNH TIỀN XỬ LÝ DỮ LIỆU</a:t>
            </a:r>
            <a:endParaRPr lang="en-US" sz="3000" dirty="0"/>
          </a:p>
        </p:txBody>
      </p:sp>
      <p:sp>
        <p:nvSpPr>
          <p:cNvPr id="5" name="Shape 2"/>
          <p:cNvSpPr/>
          <p:nvPr/>
        </p:nvSpPr>
        <p:spPr>
          <a:xfrm>
            <a:off x="548640" y="1600200"/>
            <a:ext cx="3454603" cy="2148840"/>
          </a:xfrm>
          <a:prstGeom prst="roundRect">
            <a:avLst>
              <a:gd name="adj" fmla="val 4255"/>
            </a:avLst>
          </a:prstGeom>
          <a:solidFill>
            <a:srgbClr val="F8FAFC"/>
          </a:solidFill>
          <a:ln w="12700">
            <a:solidFill>
              <a:srgbClr val="E2E8F0"/>
            </a:solidFill>
            <a:prstDash val="solid"/>
          </a:ln>
        </p:spPr>
        <p:txBody>
          <a:bodyPr/>
          <a:lstStyle/>
          <a:p>
            <a:endParaRPr lang="en-US"/>
          </a:p>
        </p:txBody>
      </p:sp>
      <p:sp>
        <p:nvSpPr>
          <p:cNvPr id="6" name="Shape 3"/>
          <p:cNvSpPr/>
          <p:nvPr/>
        </p:nvSpPr>
        <p:spPr>
          <a:xfrm>
            <a:off x="822960" y="1847088"/>
            <a:ext cx="457200" cy="457200"/>
          </a:xfrm>
          <a:prstGeom prst="ellipse">
            <a:avLst/>
          </a:prstGeom>
          <a:solidFill>
            <a:srgbClr val="E0F2FE"/>
          </a:solidFill>
          <a:ln w="12700">
            <a:solidFill>
              <a:srgbClr val="E0F2FE"/>
            </a:solidFill>
            <a:prstDash val="solid"/>
          </a:ln>
        </p:spPr>
        <p:txBody>
          <a:bodyPr/>
          <a:lstStyle/>
          <a:p>
            <a:endParaRPr lang="en-US"/>
          </a:p>
        </p:txBody>
      </p:sp>
      <p:sp>
        <p:nvSpPr>
          <p:cNvPr id="7" name="Text 4"/>
          <p:cNvSpPr txBox="1"/>
          <p:nvPr/>
        </p:nvSpPr>
        <p:spPr>
          <a:xfrm>
            <a:off x="822960" y="1847088"/>
            <a:ext cx="457200" cy="457200"/>
          </a:xfrm>
          <a:prstGeom prst="rect">
            <a:avLst/>
          </a:prstGeom>
          <a:noFill/>
          <a:ln/>
        </p:spPr>
        <p:txBody>
          <a:bodyPr wrap="square" lIns="0" tIns="0" rIns="0" bIns="0" rtlCol="0" anchor="ctr"/>
          <a:lstStyle/>
          <a:p>
            <a:pPr marL="0" indent="0" algn="ctr">
              <a:buNone/>
            </a:pPr>
            <a:r>
              <a:rPr lang="en-US" sz="1800" b="1" dirty="0">
                <a:solidFill>
                  <a:srgbClr val="0284C7"/>
                </a:solidFill>
                <a:latin typeface="Calibri" pitchFamily="34" charset="0"/>
                <a:ea typeface="Calibri" pitchFamily="34" charset="-122"/>
                <a:cs typeface="Calibri" pitchFamily="34" charset="-120"/>
              </a:rPr>
              <a:t>1</a:t>
            </a:r>
            <a:endParaRPr lang="en-US" sz="1800" dirty="0"/>
          </a:p>
        </p:txBody>
      </p:sp>
      <p:sp>
        <p:nvSpPr>
          <p:cNvPr id="8" name="Text 5"/>
          <p:cNvSpPr txBox="1"/>
          <p:nvPr/>
        </p:nvSpPr>
        <p:spPr>
          <a:xfrm>
            <a:off x="1417320" y="1847088"/>
            <a:ext cx="237744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Định dạng và kiểm tra</a:t>
            </a:r>
            <a:endParaRPr lang="en-US" sz="1700" dirty="0"/>
          </a:p>
        </p:txBody>
      </p:sp>
      <p:sp>
        <p:nvSpPr>
          <p:cNvPr id="9" name="Text 6"/>
          <p:cNvSpPr txBox="1"/>
          <p:nvPr/>
        </p:nvSpPr>
        <p:spPr>
          <a:xfrm>
            <a:off x="822960" y="2514600"/>
            <a:ext cx="2926080" cy="1188720"/>
          </a:xfrm>
          <a:prstGeom prst="rect">
            <a:avLst/>
          </a:prstGeom>
          <a:noFill/>
          <a:ln/>
        </p:spPr>
        <p:txBody>
          <a:bodyPr wrap="square" lIns="0" tIns="0" rIns="0" bIns="0" rtlCol="0" anchor="t"/>
          <a:lstStyle/>
          <a:p>
            <a:pPr marL="0" indent="0">
              <a:buNone/>
            </a:pPr>
            <a:r>
              <a:rPr lang="en-US" sz="1700" dirty="0">
                <a:solidFill>
                  <a:srgbClr val="475569"/>
                </a:solidFill>
                <a:latin typeface="Calibri" pitchFamily="34" charset="0"/>
                <a:ea typeface="Calibri" pitchFamily="34" charset="-122"/>
                <a:cs typeface="Calibri" pitchFamily="34" charset="-120"/>
              </a:rPr>
              <a:t>Đọc file mã cp1252, ép kiểu Date, xác nhận 0 giá trị khuyết.</a:t>
            </a:r>
            <a:endParaRPr lang="en-US" sz="1700" dirty="0"/>
          </a:p>
        </p:txBody>
      </p:sp>
      <p:pic>
        <p:nvPicPr>
          <p:cNvPr id="10" name="Image 0" descr="preencoded.png"/>
          <p:cNvPicPr>
            <a:picLocks noChangeAspect="1"/>
          </p:cNvPicPr>
          <p:nvPr/>
        </p:nvPicPr>
        <p:blipFill>
          <a:blip r:embed="rId3"/>
          <a:stretch>
            <a:fillRect/>
          </a:stretch>
        </p:blipFill>
        <p:spPr>
          <a:xfrm>
            <a:off x="4094683" y="2514600"/>
            <a:ext cx="182880" cy="182880"/>
          </a:xfrm>
          <a:prstGeom prst="rect">
            <a:avLst/>
          </a:prstGeom>
        </p:spPr>
      </p:pic>
      <p:sp>
        <p:nvSpPr>
          <p:cNvPr id="11" name="Shape 7"/>
          <p:cNvSpPr/>
          <p:nvPr/>
        </p:nvSpPr>
        <p:spPr>
          <a:xfrm>
            <a:off x="4369003" y="1600200"/>
            <a:ext cx="3454603" cy="2148840"/>
          </a:xfrm>
          <a:prstGeom prst="roundRect">
            <a:avLst>
              <a:gd name="adj" fmla="val 4255"/>
            </a:avLst>
          </a:prstGeom>
          <a:solidFill>
            <a:srgbClr val="F8FAFC"/>
          </a:solidFill>
          <a:ln w="12700">
            <a:solidFill>
              <a:srgbClr val="E2E8F0"/>
            </a:solidFill>
            <a:prstDash val="solid"/>
          </a:ln>
        </p:spPr>
        <p:txBody>
          <a:bodyPr/>
          <a:lstStyle/>
          <a:p>
            <a:endParaRPr lang="en-US"/>
          </a:p>
        </p:txBody>
      </p:sp>
      <p:sp>
        <p:nvSpPr>
          <p:cNvPr id="12" name="Shape 8"/>
          <p:cNvSpPr/>
          <p:nvPr/>
        </p:nvSpPr>
        <p:spPr>
          <a:xfrm>
            <a:off x="4643323" y="1847088"/>
            <a:ext cx="457200" cy="457200"/>
          </a:xfrm>
          <a:prstGeom prst="ellipse">
            <a:avLst/>
          </a:prstGeom>
          <a:solidFill>
            <a:srgbClr val="CCFBF1"/>
          </a:solidFill>
          <a:ln w="12700">
            <a:solidFill>
              <a:srgbClr val="CCFBF1"/>
            </a:solidFill>
            <a:prstDash val="solid"/>
          </a:ln>
        </p:spPr>
        <p:txBody>
          <a:bodyPr/>
          <a:lstStyle/>
          <a:p>
            <a:endParaRPr lang="en-US"/>
          </a:p>
        </p:txBody>
      </p:sp>
      <p:sp>
        <p:nvSpPr>
          <p:cNvPr id="13" name="Text 9"/>
          <p:cNvSpPr txBox="1"/>
          <p:nvPr/>
        </p:nvSpPr>
        <p:spPr>
          <a:xfrm>
            <a:off x="4643323" y="1847088"/>
            <a:ext cx="457200" cy="457200"/>
          </a:xfrm>
          <a:prstGeom prst="rect">
            <a:avLst/>
          </a:prstGeom>
          <a:noFill/>
          <a:ln/>
        </p:spPr>
        <p:txBody>
          <a:bodyPr wrap="square" lIns="0" tIns="0" rIns="0" bIns="0" rtlCol="0" anchor="ctr"/>
          <a:lstStyle/>
          <a:p>
            <a:pPr marL="0" indent="0" algn="ctr">
              <a:buNone/>
            </a:pPr>
            <a:r>
              <a:rPr lang="en-US" sz="1800" b="1" dirty="0">
                <a:solidFill>
                  <a:srgbClr val="0D9488"/>
                </a:solidFill>
                <a:latin typeface="Calibri" pitchFamily="34" charset="0"/>
                <a:ea typeface="Calibri" pitchFamily="34" charset="-122"/>
                <a:cs typeface="Calibri" pitchFamily="34" charset="-120"/>
              </a:rPr>
              <a:t>2</a:t>
            </a:r>
            <a:endParaRPr lang="en-US" sz="1800" dirty="0"/>
          </a:p>
        </p:txBody>
      </p:sp>
      <p:sp>
        <p:nvSpPr>
          <p:cNvPr id="14" name="Text 10"/>
          <p:cNvSpPr txBox="1"/>
          <p:nvPr/>
        </p:nvSpPr>
        <p:spPr>
          <a:xfrm>
            <a:off x="5237683" y="1847088"/>
            <a:ext cx="237744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Tạo biến mở rộng</a:t>
            </a:r>
            <a:endParaRPr lang="en-US" sz="1700" dirty="0"/>
          </a:p>
        </p:txBody>
      </p:sp>
      <p:sp>
        <p:nvSpPr>
          <p:cNvPr id="15" name="Text 11"/>
          <p:cNvSpPr txBox="1"/>
          <p:nvPr/>
        </p:nvSpPr>
        <p:spPr>
          <a:xfrm>
            <a:off x="4643323" y="2514600"/>
            <a:ext cx="2926080" cy="1188720"/>
          </a:xfrm>
          <a:prstGeom prst="rect">
            <a:avLst/>
          </a:prstGeom>
          <a:noFill/>
          <a:ln/>
        </p:spPr>
        <p:txBody>
          <a:bodyPr wrap="square" lIns="0" tIns="0" rIns="0" bIns="0" rtlCol="0" anchor="t"/>
          <a:lstStyle/>
          <a:p>
            <a:pPr marL="0" indent="0">
              <a:buNone/>
            </a:pPr>
            <a:r>
              <a:rPr lang="en-US" sz="1700" dirty="0">
                <a:solidFill>
                  <a:srgbClr val="475569"/>
                </a:solidFill>
                <a:latin typeface="Calibri" pitchFamily="34" charset="0"/>
                <a:ea typeface="Calibri" pitchFamily="34" charset="-122"/>
                <a:cs typeface="Calibri" pitchFamily="34" charset="-120"/>
              </a:rPr>
              <a:t>Tạo Month, DayOfWeek, IsWeekend phục vụ EDA.</a:t>
            </a:r>
            <a:endParaRPr lang="en-US" sz="1700" dirty="0"/>
          </a:p>
        </p:txBody>
      </p:sp>
      <p:pic>
        <p:nvPicPr>
          <p:cNvPr id="16" name="Image 1" descr="preencoded.png"/>
          <p:cNvPicPr>
            <a:picLocks noChangeAspect="1"/>
          </p:cNvPicPr>
          <p:nvPr/>
        </p:nvPicPr>
        <p:blipFill>
          <a:blip r:embed="rId3"/>
          <a:stretch>
            <a:fillRect/>
          </a:stretch>
        </p:blipFill>
        <p:spPr>
          <a:xfrm>
            <a:off x="7915046" y="2514600"/>
            <a:ext cx="182880" cy="182880"/>
          </a:xfrm>
          <a:prstGeom prst="rect">
            <a:avLst/>
          </a:prstGeom>
        </p:spPr>
      </p:pic>
      <p:sp>
        <p:nvSpPr>
          <p:cNvPr id="17" name="Shape 12"/>
          <p:cNvSpPr/>
          <p:nvPr/>
        </p:nvSpPr>
        <p:spPr>
          <a:xfrm>
            <a:off x="8189366" y="1600200"/>
            <a:ext cx="3454603" cy="2148840"/>
          </a:xfrm>
          <a:prstGeom prst="roundRect">
            <a:avLst>
              <a:gd name="adj" fmla="val 4255"/>
            </a:avLst>
          </a:prstGeom>
          <a:solidFill>
            <a:srgbClr val="F8FAFC"/>
          </a:solidFill>
          <a:ln w="12700">
            <a:solidFill>
              <a:srgbClr val="E2E8F0"/>
            </a:solidFill>
            <a:prstDash val="solid"/>
          </a:ln>
        </p:spPr>
        <p:txBody>
          <a:bodyPr/>
          <a:lstStyle/>
          <a:p>
            <a:endParaRPr lang="en-US"/>
          </a:p>
        </p:txBody>
      </p:sp>
      <p:sp>
        <p:nvSpPr>
          <p:cNvPr id="18" name="Shape 13"/>
          <p:cNvSpPr/>
          <p:nvPr/>
        </p:nvSpPr>
        <p:spPr>
          <a:xfrm>
            <a:off x="8463686" y="1847088"/>
            <a:ext cx="457200" cy="457200"/>
          </a:xfrm>
          <a:prstGeom prst="ellipse">
            <a:avLst/>
          </a:prstGeom>
          <a:solidFill>
            <a:srgbClr val="FEF3C7"/>
          </a:solidFill>
          <a:ln w="12700">
            <a:solidFill>
              <a:srgbClr val="FEF3C7"/>
            </a:solidFill>
            <a:prstDash val="solid"/>
          </a:ln>
        </p:spPr>
        <p:txBody>
          <a:bodyPr/>
          <a:lstStyle/>
          <a:p>
            <a:endParaRPr lang="en-US"/>
          </a:p>
        </p:txBody>
      </p:sp>
      <p:sp>
        <p:nvSpPr>
          <p:cNvPr id="19" name="Text 14"/>
          <p:cNvSpPr txBox="1"/>
          <p:nvPr/>
        </p:nvSpPr>
        <p:spPr>
          <a:xfrm>
            <a:off x="8463686" y="1847088"/>
            <a:ext cx="457200" cy="457200"/>
          </a:xfrm>
          <a:prstGeom prst="rect">
            <a:avLst/>
          </a:prstGeom>
          <a:noFill/>
          <a:ln/>
        </p:spPr>
        <p:txBody>
          <a:bodyPr wrap="square" lIns="0" tIns="0" rIns="0" bIns="0" rtlCol="0" anchor="ctr"/>
          <a:lstStyle/>
          <a:p>
            <a:pPr marL="0" indent="0" algn="ctr">
              <a:buNone/>
            </a:pPr>
            <a:r>
              <a:rPr lang="en-US" sz="1800" b="1" dirty="0">
                <a:solidFill>
                  <a:srgbClr val="D97706"/>
                </a:solidFill>
                <a:latin typeface="Calibri" pitchFamily="34" charset="0"/>
                <a:ea typeface="Calibri" pitchFamily="34" charset="-122"/>
                <a:cs typeface="Calibri" pitchFamily="34" charset="-120"/>
              </a:rPr>
              <a:t>3</a:t>
            </a:r>
            <a:endParaRPr lang="en-US" sz="1800" dirty="0"/>
          </a:p>
        </p:txBody>
      </p:sp>
      <p:sp>
        <p:nvSpPr>
          <p:cNvPr id="20" name="Text 15"/>
          <p:cNvSpPr txBox="1"/>
          <p:nvPr/>
        </p:nvSpPr>
        <p:spPr>
          <a:xfrm>
            <a:off x="9058046" y="1847088"/>
            <a:ext cx="2377440" cy="457200"/>
          </a:xfrm>
          <a:prstGeom prst="rect">
            <a:avLst/>
          </a:prstGeom>
          <a:noFill/>
          <a:ln/>
        </p:spPr>
        <p:txBody>
          <a:bodyPr wrap="square" lIns="0" tIns="0" rIns="0" bIns="0" rtlCol="0" anchor="ctr"/>
          <a:lstStyle/>
          <a:p>
            <a:pPr marL="0" indent="0">
              <a:buNone/>
            </a:pPr>
            <a:r>
              <a:rPr lang="en-US" sz="1700" b="1" dirty="0">
                <a:solidFill>
                  <a:srgbClr val="0F172A"/>
                </a:solidFill>
                <a:latin typeface="Calibri" pitchFamily="34" charset="0"/>
                <a:ea typeface="Calibri" pitchFamily="34" charset="-122"/>
                <a:cs typeface="Calibri" pitchFamily="34" charset="-120"/>
              </a:rPr>
              <a:t>Xử lý ngoại lệ (IQR)</a:t>
            </a:r>
            <a:endParaRPr lang="en-US" sz="1700" dirty="0"/>
          </a:p>
        </p:txBody>
      </p:sp>
      <p:sp>
        <p:nvSpPr>
          <p:cNvPr id="21" name="Text 16"/>
          <p:cNvSpPr txBox="1"/>
          <p:nvPr/>
        </p:nvSpPr>
        <p:spPr>
          <a:xfrm>
            <a:off x="8463686" y="2514600"/>
            <a:ext cx="2926080" cy="1188720"/>
          </a:xfrm>
          <a:prstGeom prst="rect">
            <a:avLst/>
          </a:prstGeom>
          <a:noFill/>
          <a:ln/>
        </p:spPr>
        <p:txBody>
          <a:bodyPr wrap="square" lIns="0" tIns="0" rIns="0" bIns="0" rtlCol="0" anchor="t"/>
          <a:lstStyle/>
          <a:p>
            <a:pPr marL="0" indent="0">
              <a:buNone/>
            </a:pPr>
            <a:r>
              <a:rPr lang="en-US" sz="1700" dirty="0">
                <a:solidFill>
                  <a:srgbClr val="475569"/>
                </a:solidFill>
                <a:latin typeface="Calibri" pitchFamily="34" charset="0"/>
                <a:ea typeface="Calibri" pitchFamily="34" charset="-122"/>
                <a:cs typeface="Calibri" pitchFamily="34" charset="-120"/>
              </a:rPr>
              <a:t>Phát hiện 158 giờ ngoại lệ cao; giữ nguyên vì là nhu cầu thật.</a:t>
            </a:r>
            <a:endParaRPr lang="en-US" sz="1700" dirty="0"/>
          </a:p>
        </p:txBody>
      </p:sp>
      <p:sp>
        <p:nvSpPr>
          <p:cNvPr id="22" name="Shape 17"/>
          <p:cNvSpPr/>
          <p:nvPr/>
        </p:nvSpPr>
        <p:spPr>
          <a:xfrm>
            <a:off x="548640" y="4023360"/>
            <a:ext cx="11094415" cy="2194560"/>
          </a:xfrm>
          <a:prstGeom prst="roundRect">
            <a:avLst>
              <a:gd name="adj" fmla="val 4167"/>
            </a:avLst>
          </a:prstGeom>
          <a:solidFill>
            <a:srgbClr val="FFF1F2"/>
          </a:solidFill>
          <a:ln w="12700">
            <a:solidFill>
              <a:srgbClr val="FECDD3"/>
            </a:solidFill>
            <a:prstDash val="solid"/>
          </a:ln>
        </p:spPr>
        <p:txBody>
          <a:bodyPr/>
          <a:lstStyle/>
          <a:p>
            <a:endParaRPr lang="en-US"/>
          </a:p>
        </p:txBody>
      </p:sp>
      <p:pic>
        <p:nvPicPr>
          <p:cNvPr id="23" name="Image 2" descr="preencoded.png"/>
          <p:cNvPicPr>
            <a:picLocks noChangeAspect="1"/>
          </p:cNvPicPr>
          <p:nvPr/>
        </p:nvPicPr>
        <p:blipFill>
          <a:blip r:embed="rId4"/>
          <a:stretch>
            <a:fillRect/>
          </a:stretch>
        </p:blipFill>
        <p:spPr>
          <a:xfrm>
            <a:off x="914400" y="4572000"/>
            <a:ext cx="594360" cy="594360"/>
          </a:xfrm>
          <a:prstGeom prst="rect">
            <a:avLst/>
          </a:prstGeom>
        </p:spPr>
      </p:pic>
      <p:sp>
        <p:nvSpPr>
          <p:cNvPr id="24" name="Text 18"/>
          <p:cNvSpPr txBox="1"/>
          <p:nvPr/>
        </p:nvSpPr>
        <p:spPr>
          <a:xfrm>
            <a:off x="1783080" y="4389120"/>
            <a:ext cx="6766560" cy="822960"/>
          </a:xfrm>
          <a:prstGeom prst="rect">
            <a:avLst/>
          </a:prstGeom>
          <a:noFill/>
          <a:ln/>
        </p:spPr>
        <p:txBody>
          <a:bodyPr wrap="square" lIns="0" tIns="0" rIns="0" bIns="0" rtlCol="0" anchor="t"/>
          <a:lstStyle/>
          <a:p>
            <a:pPr marL="0" indent="0">
              <a:buNone/>
            </a:pPr>
            <a:r>
              <a:rPr lang="en-US" sz="2000" b="1" dirty="0">
                <a:solidFill>
                  <a:srgbClr val="BE123C"/>
                </a:solidFill>
                <a:latin typeface="Calibri" pitchFamily="34" charset="0"/>
                <a:ea typeface="Calibri" pitchFamily="34" charset="-122"/>
                <a:cs typeface="Calibri" pitchFamily="34" charset="-120"/>
              </a:rPr>
              <a:t>Loại bỏ 295 giờ hệ thống không hoạt động (Functioning Day = No)</a:t>
            </a:r>
            <a:endParaRPr lang="en-US" sz="2000" dirty="0"/>
          </a:p>
        </p:txBody>
      </p:sp>
      <p:sp>
        <p:nvSpPr>
          <p:cNvPr id="25" name="Text 19"/>
          <p:cNvSpPr txBox="1"/>
          <p:nvPr/>
        </p:nvSpPr>
        <p:spPr>
          <a:xfrm>
            <a:off x="1783080" y="5166360"/>
            <a:ext cx="6766560" cy="822960"/>
          </a:xfrm>
          <a:prstGeom prst="rect">
            <a:avLst/>
          </a:prstGeom>
          <a:noFill/>
          <a:ln/>
        </p:spPr>
        <p:txBody>
          <a:bodyPr wrap="square" lIns="0" tIns="0" rIns="0" bIns="0" rtlCol="0" anchor="t"/>
          <a:lstStyle/>
          <a:p>
            <a:pPr marL="0" indent="0">
              <a:buNone/>
            </a:pPr>
            <a:r>
              <a:rPr lang="en-US" sz="1600" dirty="0">
                <a:solidFill>
                  <a:srgbClr val="9F1239"/>
                </a:solidFill>
                <a:latin typeface="Calibri" pitchFamily="34" charset="0"/>
                <a:ea typeface="Calibri" pitchFamily="34" charset="-122"/>
                <a:cs typeface="Calibri" pitchFamily="34" charset="-120"/>
              </a:rPr>
              <a:t>Các giờ này có lượt thuê = 0 do đóng cửa hệ thống, không phản ánh nhu cầu tự nhiên.</a:t>
            </a:r>
            <a:endParaRPr lang="en-US" sz="1600" dirty="0"/>
          </a:p>
        </p:txBody>
      </p:sp>
      <p:sp>
        <p:nvSpPr>
          <p:cNvPr id="26" name="Shape 20"/>
          <p:cNvSpPr/>
          <p:nvPr/>
        </p:nvSpPr>
        <p:spPr>
          <a:xfrm>
            <a:off x="8915400" y="4343400"/>
            <a:ext cx="2468880" cy="1554480"/>
          </a:xfrm>
          <a:prstGeom prst="roundRect">
            <a:avLst>
              <a:gd name="adj" fmla="val 5882"/>
            </a:avLst>
          </a:prstGeom>
          <a:solidFill>
            <a:srgbClr val="FFFFFF"/>
          </a:solidFill>
          <a:ln w="12700">
            <a:solidFill>
              <a:srgbClr val="FECDD3"/>
            </a:solidFill>
            <a:prstDash val="solid"/>
          </a:ln>
        </p:spPr>
        <p:txBody>
          <a:bodyPr/>
          <a:lstStyle/>
          <a:p>
            <a:endParaRPr lang="en-US"/>
          </a:p>
        </p:txBody>
      </p:sp>
      <p:sp>
        <p:nvSpPr>
          <p:cNvPr id="27" name="Text 21"/>
          <p:cNvSpPr txBox="1"/>
          <p:nvPr/>
        </p:nvSpPr>
        <p:spPr>
          <a:xfrm>
            <a:off x="8915400" y="4526280"/>
            <a:ext cx="2468880" cy="640080"/>
          </a:xfrm>
          <a:prstGeom prst="rect">
            <a:avLst/>
          </a:prstGeom>
          <a:noFill/>
          <a:ln/>
        </p:spPr>
        <p:txBody>
          <a:bodyPr wrap="square" lIns="0" tIns="0" rIns="0" bIns="0" rtlCol="0" anchor="ctr"/>
          <a:lstStyle/>
          <a:p>
            <a:pPr marL="0" indent="0" algn="ctr">
              <a:buNone/>
            </a:pPr>
            <a:r>
              <a:rPr lang="en-US" sz="2800" b="1" dirty="0">
                <a:solidFill>
                  <a:srgbClr val="BE123C"/>
                </a:solidFill>
                <a:latin typeface="Courier New" pitchFamily="34" charset="0"/>
                <a:ea typeface="Courier New" pitchFamily="34" charset="-122"/>
                <a:cs typeface="Courier New" pitchFamily="34" charset="-120"/>
              </a:rPr>
              <a:t>8.465 giờ</a:t>
            </a:r>
            <a:endParaRPr lang="en-US" sz="2800" dirty="0"/>
          </a:p>
        </p:txBody>
      </p:sp>
      <p:sp>
        <p:nvSpPr>
          <p:cNvPr id="28" name="Text 22"/>
          <p:cNvSpPr txBox="1"/>
          <p:nvPr/>
        </p:nvSpPr>
        <p:spPr>
          <a:xfrm>
            <a:off x="8915400" y="5212080"/>
            <a:ext cx="2468880" cy="457200"/>
          </a:xfrm>
          <a:prstGeom prst="rect">
            <a:avLst/>
          </a:prstGeom>
          <a:noFill/>
          <a:ln/>
        </p:spPr>
        <p:txBody>
          <a:bodyPr wrap="square" lIns="0" tIns="0" rIns="0" bIns="0" rtlCol="0" anchor="t"/>
          <a:lstStyle/>
          <a:p>
            <a:pPr marL="0" indent="0" algn="ctr">
              <a:buNone/>
            </a:pPr>
            <a:r>
              <a:rPr lang="en-US" sz="1400" b="1" dirty="0">
                <a:solidFill>
                  <a:srgbClr val="9F1239"/>
                </a:solidFill>
                <a:latin typeface="Calibri" pitchFamily="34" charset="0"/>
                <a:ea typeface="Calibri" pitchFamily="34" charset="-122"/>
                <a:cs typeface="Calibri" pitchFamily="34" charset="-120"/>
              </a:rPr>
              <a:t>Mẫu phân tích chính thức</a:t>
            </a:r>
            <a:endParaRPr lang="en-US" sz="1400" dirty="0"/>
          </a:p>
        </p:txBody>
      </p:sp>
      <p:sp>
        <p:nvSpPr>
          <p:cNvPr id="31" name="Freeform 9">
            <a:extLst>
              <a:ext uri="{FF2B5EF4-FFF2-40B4-BE49-F238E27FC236}">
                <a16:creationId xmlns:a16="http://schemas.microsoft.com/office/drawing/2014/main" id="{135C2D85-B27A-8B7D-FA2E-94FAEB8E7074}"/>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5"/>
            <a:stretch>
              <a:fillRect b="-51881"/>
            </a:stretch>
          </a:blipFill>
        </p:spPr>
        <p:txBody>
          <a:bodyPr/>
          <a:lstStyle/>
          <a:p>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KHÁM PHÁ TRI THỨC</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QUY TRÌNH VÀ PHƯƠNG PHÁP PHÂN TÍCH</a:t>
            </a:r>
            <a:endParaRPr lang="en-US" sz="3000" dirty="0"/>
          </a:p>
        </p:txBody>
      </p:sp>
      <p:sp>
        <p:nvSpPr>
          <p:cNvPr id="5" name="Shape 2"/>
          <p:cNvSpPr/>
          <p:nvPr/>
        </p:nvSpPr>
        <p:spPr>
          <a:xfrm>
            <a:off x="548640" y="1600200"/>
            <a:ext cx="6400800" cy="3566160"/>
          </a:xfrm>
          <a:prstGeom prst="roundRect">
            <a:avLst>
              <a:gd name="adj" fmla="val 2564"/>
            </a:avLst>
          </a:prstGeom>
          <a:solidFill>
            <a:srgbClr val="F8FAFC"/>
          </a:solidFill>
          <a:ln w="12700">
            <a:solidFill>
              <a:srgbClr val="E2E8F0"/>
            </a:solidFill>
            <a:prstDash val="solid"/>
          </a:ln>
        </p:spPr>
        <p:txBody>
          <a:bodyPr/>
          <a:lstStyle/>
          <a:p>
            <a:endParaRPr lang="en-US"/>
          </a:p>
        </p:txBody>
      </p:sp>
      <p:pic>
        <p:nvPicPr>
          <p:cNvPr id="6" name="Image 0" descr="00_quy_trinh.png"/>
          <p:cNvPicPr>
            <a:picLocks noChangeAspect="1"/>
          </p:cNvPicPr>
          <p:nvPr/>
        </p:nvPicPr>
        <p:blipFill>
          <a:blip r:embed="rId3"/>
          <a:stretch>
            <a:fillRect/>
          </a:stretch>
        </p:blipFill>
        <p:spPr>
          <a:xfrm>
            <a:off x="908364" y="1691640"/>
            <a:ext cx="5681353" cy="3063240"/>
          </a:xfrm>
          <a:prstGeom prst="rect">
            <a:avLst/>
          </a:prstGeom>
        </p:spPr>
      </p:pic>
      <p:sp>
        <p:nvSpPr>
          <p:cNvPr id="7" name="Text 3"/>
          <p:cNvSpPr txBox="1"/>
          <p:nvPr/>
        </p:nvSpPr>
        <p:spPr>
          <a:xfrm>
            <a:off x="640080" y="4818888"/>
            <a:ext cx="621792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Hình 1. Quy trình phân tích dữ liệu của nhóm</a:t>
            </a:r>
            <a:endParaRPr lang="en-US" sz="1200" dirty="0"/>
          </a:p>
        </p:txBody>
      </p:sp>
      <p:sp>
        <p:nvSpPr>
          <p:cNvPr id="8" name="Shape 4"/>
          <p:cNvSpPr/>
          <p:nvPr/>
        </p:nvSpPr>
        <p:spPr>
          <a:xfrm>
            <a:off x="548640" y="5303520"/>
            <a:ext cx="6400800" cy="1005840"/>
          </a:xfrm>
          <a:prstGeom prst="roundRect">
            <a:avLst>
              <a:gd name="adj" fmla="val 9091"/>
            </a:avLst>
          </a:prstGeom>
          <a:solidFill>
            <a:srgbClr val="E0F2FE"/>
          </a:solidFill>
          <a:ln w="12700">
            <a:solidFill>
              <a:srgbClr val="BAE6FD"/>
            </a:solidFill>
            <a:prstDash val="solid"/>
          </a:ln>
        </p:spPr>
        <p:txBody>
          <a:bodyPr/>
          <a:lstStyle/>
          <a:p>
            <a:endParaRPr lang="en-US"/>
          </a:p>
        </p:txBody>
      </p:sp>
      <p:sp>
        <p:nvSpPr>
          <p:cNvPr id="9" name="Text 5"/>
          <p:cNvSpPr txBox="1"/>
          <p:nvPr/>
        </p:nvSpPr>
        <p:spPr>
          <a:xfrm>
            <a:off x="822960" y="5303520"/>
            <a:ext cx="5852160" cy="1005840"/>
          </a:xfrm>
          <a:prstGeom prst="rect">
            <a:avLst/>
          </a:prstGeom>
          <a:noFill/>
          <a:ln/>
        </p:spPr>
        <p:txBody>
          <a:bodyPr wrap="square" lIns="0" tIns="0" rIns="0" bIns="0" rtlCol="0" anchor="ctr"/>
          <a:lstStyle/>
          <a:p>
            <a:pPr marL="0" indent="0">
              <a:buNone/>
            </a:pPr>
            <a:r>
              <a:rPr lang="en-US" sz="1500" b="1" dirty="0">
                <a:solidFill>
                  <a:srgbClr val="075985"/>
                </a:solidFill>
                <a:latin typeface="Calibri" pitchFamily="34" charset="0"/>
                <a:ea typeface="Calibri" pitchFamily="34" charset="-122"/>
                <a:cs typeface="Calibri" pitchFamily="34" charset="-120"/>
              </a:rPr>
              <a:t>Chuẩn bị dữ liệu (bước 1–3) → Phân tích thăm dò (bước 4–7) → Xây dựng mô hình hồi quy (bước 8)</a:t>
            </a:r>
            <a:endParaRPr lang="en-US" sz="1500" dirty="0"/>
          </a:p>
        </p:txBody>
      </p:sp>
      <p:sp>
        <p:nvSpPr>
          <p:cNvPr id="10" name="Shape 6"/>
          <p:cNvSpPr/>
          <p:nvPr/>
        </p:nvSpPr>
        <p:spPr>
          <a:xfrm>
            <a:off x="7178040" y="1600200"/>
            <a:ext cx="4465015" cy="1051560"/>
          </a:xfrm>
          <a:prstGeom prst="roundRect">
            <a:avLst>
              <a:gd name="adj" fmla="val 8696"/>
            </a:avLst>
          </a:prstGeom>
          <a:solidFill>
            <a:srgbClr val="F8FAFC"/>
          </a:solidFill>
          <a:ln w="12700">
            <a:solidFill>
              <a:srgbClr val="E2E8F0"/>
            </a:solidFill>
            <a:prstDash val="solid"/>
          </a:ln>
        </p:spPr>
        <p:txBody>
          <a:bodyPr/>
          <a:lstStyle/>
          <a:p>
            <a:endParaRPr lang="en-US"/>
          </a:p>
        </p:txBody>
      </p:sp>
      <p:sp>
        <p:nvSpPr>
          <p:cNvPr id="11" name="Shape 7"/>
          <p:cNvSpPr/>
          <p:nvPr/>
        </p:nvSpPr>
        <p:spPr>
          <a:xfrm>
            <a:off x="7406640" y="1728216"/>
            <a:ext cx="420624" cy="420624"/>
          </a:xfrm>
          <a:prstGeom prst="ellipse">
            <a:avLst/>
          </a:prstGeom>
          <a:solidFill>
            <a:srgbClr val="E0F2FE"/>
          </a:solidFill>
          <a:ln w="12700">
            <a:solidFill>
              <a:srgbClr val="E0F2FE"/>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7507224" y="1828800"/>
            <a:ext cx="219456" cy="219456"/>
          </a:xfrm>
          <a:prstGeom prst="rect">
            <a:avLst/>
          </a:prstGeom>
        </p:spPr>
      </p:pic>
      <p:sp>
        <p:nvSpPr>
          <p:cNvPr id="13" name="Text 8"/>
          <p:cNvSpPr txBox="1"/>
          <p:nvPr/>
        </p:nvSpPr>
        <p:spPr>
          <a:xfrm>
            <a:off x="7955280" y="1728216"/>
            <a:ext cx="34747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Thống kê mô tả</a:t>
            </a:r>
            <a:endParaRPr lang="en-US" sz="1600" dirty="0"/>
          </a:p>
        </p:txBody>
      </p:sp>
      <p:sp>
        <p:nvSpPr>
          <p:cNvPr id="14" name="Text 9"/>
          <p:cNvSpPr txBox="1"/>
          <p:nvPr/>
        </p:nvSpPr>
        <p:spPr>
          <a:xfrm>
            <a:off x="7955280" y="2185416"/>
            <a:ext cx="3566160" cy="4114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Trung bình, trung vị, độ lệch chuẩn, ngoại lệ IQR</a:t>
            </a:r>
            <a:endParaRPr lang="en-US" sz="1400" dirty="0"/>
          </a:p>
        </p:txBody>
      </p:sp>
      <p:sp>
        <p:nvSpPr>
          <p:cNvPr id="15" name="Shape 10"/>
          <p:cNvSpPr/>
          <p:nvPr/>
        </p:nvSpPr>
        <p:spPr>
          <a:xfrm>
            <a:off x="7178040" y="2788920"/>
            <a:ext cx="4465015" cy="1051560"/>
          </a:xfrm>
          <a:prstGeom prst="roundRect">
            <a:avLst>
              <a:gd name="adj" fmla="val 8696"/>
            </a:avLst>
          </a:prstGeom>
          <a:solidFill>
            <a:srgbClr val="F8FAFC"/>
          </a:solidFill>
          <a:ln w="12700">
            <a:solidFill>
              <a:srgbClr val="E2E8F0"/>
            </a:solidFill>
            <a:prstDash val="solid"/>
          </a:ln>
        </p:spPr>
        <p:txBody>
          <a:bodyPr/>
          <a:lstStyle/>
          <a:p>
            <a:endParaRPr lang="en-US"/>
          </a:p>
        </p:txBody>
      </p:sp>
      <p:sp>
        <p:nvSpPr>
          <p:cNvPr id="16" name="Shape 11"/>
          <p:cNvSpPr/>
          <p:nvPr/>
        </p:nvSpPr>
        <p:spPr>
          <a:xfrm>
            <a:off x="7406640" y="2916936"/>
            <a:ext cx="420624" cy="420624"/>
          </a:xfrm>
          <a:prstGeom prst="ellipse">
            <a:avLst/>
          </a:prstGeom>
          <a:solidFill>
            <a:srgbClr val="FEF3C7"/>
          </a:solidFill>
          <a:ln w="12700">
            <a:solidFill>
              <a:srgbClr val="FEF3C7"/>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7507224" y="3017520"/>
            <a:ext cx="219456" cy="219456"/>
          </a:xfrm>
          <a:prstGeom prst="rect">
            <a:avLst/>
          </a:prstGeom>
        </p:spPr>
      </p:pic>
      <p:sp>
        <p:nvSpPr>
          <p:cNvPr id="18" name="Text 12"/>
          <p:cNvSpPr txBox="1"/>
          <p:nvPr/>
        </p:nvSpPr>
        <p:spPr>
          <a:xfrm>
            <a:off x="7955280" y="2916936"/>
            <a:ext cx="34747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Trực quan hóa</a:t>
            </a:r>
            <a:endParaRPr lang="en-US" sz="1600" dirty="0"/>
          </a:p>
        </p:txBody>
      </p:sp>
      <p:sp>
        <p:nvSpPr>
          <p:cNvPr id="19" name="Text 13"/>
          <p:cNvSpPr txBox="1"/>
          <p:nvPr/>
        </p:nvSpPr>
        <p:spPr>
          <a:xfrm>
            <a:off x="7955280" y="3374136"/>
            <a:ext cx="3566160" cy="4114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Theo giờ, mùa, ngày lễ, nhiệt độ, lượng mưa</a:t>
            </a:r>
            <a:endParaRPr lang="en-US" sz="1400" dirty="0"/>
          </a:p>
        </p:txBody>
      </p:sp>
      <p:sp>
        <p:nvSpPr>
          <p:cNvPr id="20" name="Shape 14"/>
          <p:cNvSpPr/>
          <p:nvPr/>
        </p:nvSpPr>
        <p:spPr>
          <a:xfrm>
            <a:off x="7178040" y="3977640"/>
            <a:ext cx="4465015" cy="1051560"/>
          </a:xfrm>
          <a:prstGeom prst="roundRect">
            <a:avLst>
              <a:gd name="adj" fmla="val 8696"/>
            </a:avLst>
          </a:prstGeom>
          <a:solidFill>
            <a:srgbClr val="F8FAFC"/>
          </a:solidFill>
          <a:ln w="12700">
            <a:solidFill>
              <a:srgbClr val="E2E8F0"/>
            </a:solidFill>
            <a:prstDash val="solid"/>
          </a:ln>
        </p:spPr>
        <p:txBody>
          <a:bodyPr/>
          <a:lstStyle/>
          <a:p>
            <a:endParaRPr lang="en-US"/>
          </a:p>
        </p:txBody>
      </p:sp>
      <p:sp>
        <p:nvSpPr>
          <p:cNvPr id="21" name="Shape 15"/>
          <p:cNvSpPr/>
          <p:nvPr/>
        </p:nvSpPr>
        <p:spPr>
          <a:xfrm>
            <a:off x="7406640" y="4105656"/>
            <a:ext cx="420624" cy="420624"/>
          </a:xfrm>
          <a:prstGeom prst="ellipse">
            <a:avLst/>
          </a:prstGeom>
          <a:solidFill>
            <a:srgbClr val="F3E8FF"/>
          </a:solidFill>
          <a:ln w="12700">
            <a:solidFill>
              <a:srgbClr val="F3E8FF"/>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7507224" y="4206240"/>
            <a:ext cx="219456" cy="219456"/>
          </a:xfrm>
          <a:prstGeom prst="rect">
            <a:avLst/>
          </a:prstGeom>
        </p:spPr>
      </p:pic>
      <p:sp>
        <p:nvSpPr>
          <p:cNvPr id="23" name="Text 16"/>
          <p:cNvSpPr txBox="1"/>
          <p:nvPr/>
        </p:nvSpPr>
        <p:spPr>
          <a:xfrm>
            <a:off x="7955280" y="4105656"/>
            <a:ext cx="34747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Kiểm định ANOVA</a:t>
            </a:r>
            <a:endParaRPr lang="en-US" sz="1600" dirty="0"/>
          </a:p>
        </p:txBody>
      </p:sp>
      <p:sp>
        <p:nvSpPr>
          <p:cNvPr id="24" name="Text 17"/>
          <p:cNvSpPr txBox="1"/>
          <p:nvPr/>
        </p:nvSpPr>
        <p:spPr>
          <a:xfrm>
            <a:off x="7955280" y="4562856"/>
            <a:ext cx="3566160" cy="4114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So sánh nhu cầu giữa 4 mùa</a:t>
            </a:r>
            <a:endParaRPr lang="en-US" sz="1400" dirty="0"/>
          </a:p>
        </p:txBody>
      </p:sp>
      <p:sp>
        <p:nvSpPr>
          <p:cNvPr id="25" name="Shape 18"/>
          <p:cNvSpPr/>
          <p:nvPr/>
        </p:nvSpPr>
        <p:spPr>
          <a:xfrm>
            <a:off x="7178040" y="5166360"/>
            <a:ext cx="4465015" cy="1051560"/>
          </a:xfrm>
          <a:prstGeom prst="roundRect">
            <a:avLst>
              <a:gd name="adj" fmla="val 8696"/>
            </a:avLst>
          </a:prstGeom>
          <a:solidFill>
            <a:srgbClr val="F8FAFC"/>
          </a:solidFill>
          <a:ln w="12700">
            <a:solidFill>
              <a:srgbClr val="E2E8F0"/>
            </a:solidFill>
            <a:prstDash val="solid"/>
          </a:ln>
        </p:spPr>
        <p:txBody>
          <a:bodyPr/>
          <a:lstStyle/>
          <a:p>
            <a:endParaRPr lang="en-US"/>
          </a:p>
        </p:txBody>
      </p:sp>
      <p:sp>
        <p:nvSpPr>
          <p:cNvPr id="26" name="Shape 19"/>
          <p:cNvSpPr/>
          <p:nvPr/>
        </p:nvSpPr>
        <p:spPr>
          <a:xfrm>
            <a:off x="7406640" y="5294376"/>
            <a:ext cx="420624" cy="420624"/>
          </a:xfrm>
          <a:prstGeom prst="ellipse">
            <a:avLst/>
          </a:prstGeom>
          <a:solidFill>
            <a:srgbClr val="DCFCE7"/>
          </a:solidFill>
          <a:ln w="12700">
            <a:solidFill>
              <a:srgbClr val="DCFCE7"/>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7507224" y="5394960"/>
            <a:ext cx="219456" cy="219456"/>
          </a:xfrm>
          <a:prstGeom prst="rect">
            <a:avLst/>
          </a:prstGeom>
        </p:spPr>
      </p:pic>
      <p:sp>
        <p:nvSpPr>
          <p:cNvPr id="28" name="Text 20"/>
          <p:cNvSpPr txBox="1"/>
          <p:nvPr/>
        </p:nvSpPr>
        <p:spPr>
          <a:xfrm>
            <a:off x="7955280" y="5294376"/>
            <a:ext cx="34747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Ma trận tương quan</a:t>
            </a:r>
            <a:endParaRPr lang="en-US" sz="1600" dirty="0"/>
          </a:p>
        </p:txBody>
      </p:sp>
      <p:sp>
        <p:nvSpPr>
          <p:cNvPr id="29" name="Text 21"/>
          <p:cNvSpPr txBox="1"/>
          <p:nvPr/>
        </p:nvSpPr>
        <p:spPr>
          <a:xfrm>
            <a:off x="7955280" y="5751576"/>
            <a:ext cx="3566160" cy="4114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Pearson, phát hiện đa cộng tuyến</a:t>
            </a:r>
            <a:endParaRPr lang="en-US" sz="1400" dirty="0"/>
          </a:p>
        </p:txBody>
      </p:sp>
      <p:sp>
        <p:nvSpPr>
          <p:cNvPr id="32" name="Freeform 9">
            <a:extLst>
              <a:ext uri="{FF2B5EF4-FFF2-40B4-BE49-F238E27FC236}">
                <a16:creationId xmlns:a16="http://schemas.microsoft.com/office/drawing/2014/main" id="{06678177-E45A-54C4-14D1-E68F210BF3A1}"/>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8"/>
            <a:stretch>
              <a:fillRect b="-51881"/>
            </a:stretch>
          </a:blipFill>
        </p:spPr>
        <p:txBody>
          <a:bodyPr/>
          <a:lstStyle/>
          <a:p>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PHÁT HIỆN EDA 01</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ẢNH HƯỞNG CỦA KHUNG GIỜ VÀ MÙA</a:t>
            </a:r>
            <a:endParaRPr lang="en-US" sz="3000" dirty="0"/>
          </a:p>
        </p:txBody>
      </p:sp>
      <p:sp>
        <p:nvSpPr>
          <p:cNvPr id="5" name="Shape 2"/>
          <p:cNvSpPr/>
          <p:nvPr/>
        </p:nvSpPr>
        <p:spPr>
          <a:xfrm>
            <a:off x="548640" y="1508760"/>
            <a:ext cx="5394960" cy="3246120"/>
          </a:xfrm>
          <a:prstGeom prst="roundRect">
            <a:avLst>
              <a:gd name="adj" fmla="val 2817"/>
            </a:avLst>
          </a:prstGeom>
          <a:solidFill>
            <a:srgbClr val="F8FAFC"/>
          </a:solidFill>
          <a:ln w="12700">
            <a:solidFill>
              <a:srgbClr val="E2E8F0"/>
            </a:solidFill>
            <a:prstDash val="solid"/>
          </a:ln>
        </p:spPr>
        <p:txBody>
          <a:bodyPr/>
          <a:lstStyle/>
          <a:p>
            <a:endParaRPr lang="en-US"/>
          </a:p>
        </p:txBody>
      </p:sp>
      <p:pic>
        <p:nvPicPr>
          <p:cNvPr id="6" name="Image 0" descr="03_luot_thue_theo_gio.png"/>
          <p:cNvPicPr>
            <a:picLocks noChangeAspect="1"/>
          </p:cNvPicPr>
          <p:nvPr/>
        </p:nvPicPr>
        <p:blipFill>
          <a:blip r:embed="rId3"/>
          <a:stretch>
            <a:fillRect/>
          </a:stretch>
        </p:blipFill>
        <p:spPr>
          <a:xfrm>
            <a:off x="1121649" y="1600200"/>
            <a:ext cx="4248942" cy="2743200"/>
          </a:xfrm>
          <a:prstGeom prst="rect">
            <a:avLst/>
          </a:prstGeom>
        </p:spPr>
      </p:pic>
      <p:sp>
        <p:nvSpPr>
          <p:cNvPr id="7" name="Text 3"/>
          <p:cNvSpPr txBox="1"/>
          <p:nvPr/>
        </p:nvSpPr>
        <p:spPr>
          <a:xfrm>
            <a:off x="640080" y="4407408"/>
            <a:ext cx="521208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Hình 3. Số lượt thuê trung bình theo giờ</a:t>
            </a:r>
            <a:endParaRPr lang="en-US" sz="1200" dirty="0"/>
          </a:p>
        </p:txBody>
      </p:sp>
      <p:sp>
        <p:nvSpPr>
          <p:cNvPr id="8" name="Shape 4"/>
          <p:cNvSpPr/>
          <p:nvPr/>
        </p:nvSpPr>
        <p:spPr>
          <a:xfrm>
            <a:off x="6248095" y="1508760"/>
            <a:ext cx="5394960" cy="3246120"/>
          </a:xfrm>
          <a:prstGeom prst="roundRect">
            <a:avLst>
              <a:gd name="adj" fmla="val 2817"/>
            </a:avLst>
          </a:prstGeom>
          <a:solidFill>
            <a:srgbClr val="F8FAFC"/>
          </a:solidFill>
          <a:ln w="12700">
            <a:solidFill>
              <a:srgbClr val="E2E8F0"/>
            </a:solidFill>
            <a:prstDash val="solid"/>
          </a:ln>
        </p:spPr>
        <p:txBody>
          <a:bodyPr/>
          <a:lstStyle/>
          <a:p>
            <a:endParaRPr lang="en-US"/>
          </a:p>
        </p:txBody>
      </p:sp>
      <p:pic>
        <p:nvPicPr>
          <p:cNvPr id="9" name="Image 1" descr="04b_mua_va_ngay_le.png"/>
          <p:cNvPicPr>
            <a:picLocks noChangeAspect="1"/>
          </p:cNvPicPr>
          <p:nvPr/>
        </p:nvPicPr>
        <p:blipFill>
          <a:blip r:embed="rId4"/>
          <a:stretch>
            <a:fillRect/>
          </a:stretch>
        </p:blipFill>
        <p:spPr>
          <a:xfrm>
            <a:off x="6522710" y="1600200"/>
            <a:ext cx="4845730" cy="2743200"/>
          </a:xfrm>
          <a:prstGeom prst="rect">
            <a:avLst/>
          </a:prstGeom>
        </p:spPr>
      </p:pic>
      <p:sp>
        <p:nvSpPr>
          <p:cNvPr id="10" name="Text 5"/>
          <p:cNvSpPr txBox="1"/>
          <p:nvPr/>
        </p:nvSpPr>
        <p:spPr>
          <a:xfrm>
            <a:off x="6339535" y="4407408"/>
            <a:ext cx="521208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Hình 4. Số lượt thuê theo mùa (a) và ngày lễ (b)</a:t>
            </a:r>
            <a:endParaRPr lang="en-US" sz="1200" dirty="0"/>
          </a:p>
        </p:txBody>
      </p:sp>
      <p:sp>
        <p:nvSpPr>
          <p:cNvPr id="11" name="Shape 6"/>
          <p:cNvSpPr/>
          <p:nvPr/>
        </p:nvSpPr>
        <p:spPr>
          <a:xfrm>
            <a:off x="548640" y="4892040"/>
            <a:ext cx="3545738" cy="1463040"/>
          </a:xfrm>
          <a:prstGeom prst="roundRect">
            <a:avLst>
              <a:gd name="adj" fmla="val 6250"/>
            </a:avLst>
          </a:prstGeom>
          <a:solidFill>
            <a:srgbClr val="F8FAFC"/>
          </a:solidFill>
          <a:ln w="12700">
            <a:solidFill>
              <a:srgbClr val="E2E8F0"/>
            </a:solidFill>
            <a:prstDash val="solid"/>
          </a:ln>
        </p:spPr>
        <p:txBody>
          <a:bodyPr/>
          <a:lstStyle/>
          <a:p>
            <a:endParaRPr lang="en-US"/>
          </a:p>
        </p:txBody>
      </p:sp>
      <p:sp>
        <p:nvSpPr>
          <p:cNvPr id="12" name="Shape 7"/>
          <p:cNvSpPr/>
          <p:nvPr/>
        </p:nvSpPr>
        <p:spPr>
          <a:xfrm>
            <a:off x="731520" y="4956048"/>
            <a:ext cx="420624" cy="420624"/>
          </a:xfrm>
          <a:prstGeom prst="ellipse">
            <a:avLst/>
          </a:prstGeom>
          <a:solidFill>
            <a:srgbClr val="E0F2FE"/>
          </a:solidFill>
          <a:ln w="12700">
            <a:solidFill>
              <a:srgbClr val="E0F2FE"/>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832104" y="5056632"/>
            <a:ext cx="219456" cy="219456"/>
          </a:xfrm>
          <a:prstGeom prst="rect">
            <a:avLst/>
          </a:prstGeom>
        </p:spPr>
      </p:pic>
      <p:sp>
        <p:nvSpPr>
          <p:cNvPr id="14" name="Text 8"/>
          <p:cNvSpPr txBox="1"/>
          <p:nvPr/>
        </p:nvSpPr>
        <p:spPr>
          <a:xfrm>
            <a:off x="1280160" y="4956048"/>
            <a:ext cx="2722778"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Nhu cầu theo khung giờ</a:t>
            </a:r>
            <a:endParaRPr lang="en-US" sz="1600" dirty="0"/>
          </a:p>
        </p:txBody>
      </p:sp>
      <p:sp>
        <p:nvSpPr>
          <p:cNvPr id="15" name="Text 9"/>
          <p:cNvSpPr txBox="1"/>
          <p:nvPr/>
        </p:nvSpPr>
        <p:spPr>
          <a:xfrm>
            <a:off x="731520" y="5468112"/>
            <a:ext cx="3179978" cy="8686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T2–T6: hai đỉnh 8h (1.306) và 18h (1.724 lượt/giờ). Cuối tuần: không có đỉnh sáng, đỉnh lúc 17h.</a:t>
            </a:r>
            <a:endParaRPr lang="en-US" sz="1400" dirty="0"/>
          </a:p>
        </p:txBody>
      </p:sp>
      <p:sp>
        <p:nvSpPr>
          <p:cNvPr id="16" name="Shape 10"/>
          <p:cNvSpPr/>
          <p:nvPr/>
        </p:nvSpPr>
        <p:spPr>
          <a:xfrm>
            <a:off x="4322978" y="4892040"/>
            <a:ext cx="3545738" cy="1463040"/>
          </a:xfrm>
          <a:prstGeom prst="roundRect">
            <a:avLst>
              <a:gd name="adj" fmla="val 6250"/>
            </a:avLst>
          </a:prstGeom>
          <a:solidFill>
            <a:srgbClr val="F8FAFC"/>
          </a:solidFill>
          <a:ln w="12700">
            <a:solidFill>
              <a:srgbClr val="E2E8F0"/>
            </a:solidFill>
            <a:prstDash val="solid"/>
          </a:ln>
        </p:spPr>
        <p:txBody>
          <a:bodyPr/>
          <a:lstStyle/>
          <a:p>
            <a:endParaRPr lang="en-US"/>
          </a:p>
        </p:txBody>
      </p:sp>
      <p:sp>
        <p:nvSpPr>
          <p:cNvPr id="17" name="Shape 11"/>
          <p:cNvSpPr/>
          <p:nvPr/>
        </p:nvSpPr>
        <p:spPr>
          <a:xfrm>
            <a:off x="4505858" y="4956048"/>
            <a:ext cx="420624" cy="420624"/>
          </a:xfrm>
          <a:prstGeom prst="ellipse">
            <a:avLst/>
          </a:prstGeom>
          <a:solidFill>
            <a:srgbClr val="FEF3C7"/>
          </a:solidFill>
          <a:ln w="12700">
            <a:solidFill>
              <a:srgbClr val="FEF3C7"/>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4606442" y="5056632"/>
            <a:ext cx="219456" cy="219456"/>
          </a:xfrm>
          <a:prstGeom prst="rect">
            <a:avLst/>
          </a:prstGeom>
        </p:spPr>
      </p:pic>
      <p:sp>
        <p:nvSpPr>
          <p:cNvPr id="19" name="Text 12"/>
          <p:cNvSpPr txBox="1"/>
          <p:nvPr/>
        </p:nvSpPr>
        <p:spPr>
          <a:xfrm>
            <a:off x="5054498" y="4956048"/>
            <a:ext cx="2722778"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Mùa và ngày lễ</a:t>
            </a:r>
            <a:endParaRPr lang="en-US" sz="1600" dirty="0"/>
          </a:p>
        </p:txBody>
      </p:sp>
      <p:sp>
        <p:nvSpPr>
          <p:cNvPr id="20" name="Text 13"/>
          <p:cNvSpPr txBox="1"/>
          <p:nvPr/>
        </p:nvSpPr>
        <p:spPr>
          <a:xfrm>
            <a:off x="4505858" y="5468112"/>
            <a:ext cx="3179978" cy="8686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Hạ 1.034 so với Đông 226 lượt/giờ (gấp 4,6 lần). Ngày lễ 529, thấp hơn ngày thường 739.</a:t>
            </a:r>
            <a:endParaRPr lang="en-US" sz="1400" dirty="0"/>
          </a:p>
        </p:txBody>
      </p:sp>
      <p:sp>
        <p:nvSpPr>
          <p:cNvPr id="21" name="Shape 14"/>
          <p:cNvSpPr/>
          <p:nvPr/>
        </p:nvSpPr>
        <p:spPr>
          <a:xfrm>
            <a:off x="8097317" y="4892040"/>
            <a:ext cx="3545738" cy="1463040"/>
          </a:xfrm>
          <a:prstGeom prst="roundRect">
            <a:avLst>
              <a:gd name="adj" fmla="val 6250"/>
            </a:avLst>
          </a:prstGeom>
          <a:solidFill>
            <a:srgbClr val="E0F2FE"/>
          </a:solidFill>
          <a:ln w="12700">
            <a:solidFill>
              <a:srgbClr val="BAE6FD"/>
            </a:solidFill>
            <a:prstDash val="solid"/>
          </a:ln>
        </p:spPr>
        <p:txBody>
          <a:bodyPr/>
          <a:lstStyle/>
          <a:p>
            <a:endParaRPr lang="en-US"/>
          </a:p>
        </p:txBody>
      </p:sp>
      <p:sp>
        <p:nvSpPr>
          <p:cNvPr id="22" name="Text 15"/>
          <p:cNvSpPr txBox="1"/>
          <p:nvPr/>
        </p:nvSpPr>
        <p:spPr>
          <a:xfrm>
            <a:off x="8280197" y="4956048"/>
            <a:ext cx="3179978" cy="274320"/>
          </a:xfrm>
          <a:prstGeom prst="rect">
            <a:avLst/>
          </a:prstGeom>
          <a:noFill/>
          <a:ln/>
        </p:spPr>
        <p:txBody>
          <a:bodyPr wrap="square" lIns="0" tIns="0" rIns="0" bIns="0" rtlCol="0" anchor="t"/>
          <a:lstStyle/>
          <a:p>
            <a:pPr marL="0" indent="0">
              <a:buNone/>
            </a:pPr>
            <a:r>
              <a:rPr lang="en-US" sz="1600" b="1" dirty="0">
                <a:solidFill>
                  <a:srgbClr val="075985"/>
                </a:solidFill>
                <a:latin typeface="Calibri" pitchFamily="34" charset="0"/>
                <a:ea typeface="Calibri" pitchFamily="34" charset="-122"/>
                <a:cs typeface="Calibri" pitchFamily="34" charset="-120"/>
              </a:rPr>
              <a:t>ANOVA (4 mùa)</a:t>
            </a:r>
            <a:endParaRPr lang="en-US" sz="1600" dirty="0"/>
          </a:p>
        </p:txBody>
      </p:sp>
      <p:sp>
        <p:nvSpPr>
          <p:cNvPr id="23" name="Text 16"/>
          <p:cNvSpPr txBox="1"/>
          <p:nvPr/>
        </p:nvSpPr>
        <p:spPr>
          <a:xfrm>
            <a:off x="8280197" y="5285232"/>
            <a:ext cx="1097280" cy="338328"/>
          </a:xfrm>
          <a:prstGeom prst="rect">
            <a:avLst/>
          </a:prstGeom>
          <a:noFill/>
          <a:ln/>
        </p:spPr>
        <p:txBody>
          <a:bodyPr wrap="square" lIns="0" tIns="0" rIns="0" bIns="0" rtlCol="0" anchor="ctr"/>
          <a:lstStyle/>
          <a:p>
            <a:pPr marL="0" indent="0">
              <a:buNone/>
            </a:pPr>
            <a:r>
              <a:rPr lang="en-US" sz="1400" b="1" dirty="0">
                <a:solidFill>
                  <a:srgbClr val="0369A1"/>
                </a:solidFill>
                <a:latin typeface="Calibri" pitchFamily="34" charset="0"/>
                <a:ea typeface="Calibri" pitchFamily="34" charset="-122"/>
                <a:cs typeface="Calibri" pitchFamily="34" charset="-120"/>
              </a:rPr>
              <a:t>F</a:t>
            </a:r>
            <a:endParaRPr lang="en-US" sz="1400" dirty="0"/>
          </a:p>
        </p:txBody>
      </p:sp>
      <p:sp>
        <p:nvSpPr>
          <p:cNvPr id="24" name="Text 17"/>
          <p:cNvSpPr txBox="1"/>
          <p:nvPr/>
        </p:nvSpPr>
        <p:spPr>
          <a:xfrm>
            <a:off x="9286037" y="5285232"/>
            <a:ext cx="2103120" cy="338328"/>
          </a:xfrm>
          <a:prstGeom prst="rect">
            <a:avLst/>
          </a:prstGeom>
          <a:noFill/>
          <a:ln/>
        </p:spPr>
        <p:txBody>
          <a:bodyPr wrap="square" lIns="0" tIns="0" rIns="0" bIns="0" rtlCol="0" anchor="ctr"/>
          <a:lstStyle/>
          <a:p>
            <a:pPr marL="0" indent="0">
              <a:buNone/>
            </a:pPr>
            <a:r>
              <a:rPr lang="en-US" sz="2000" b="1" dirty="0">
                <a:solidFill>
                  <a:srgbClr val="0284C7"/>
                </a:solidFill>
                <a:latin typeface="Courier New" pitchFamily="34" charset="0"/>
                <a:ea typeface="Courier New" pitchFamily="34" charset="-122"/>
                <a:cs typeface="Courier New" pitchFamily="34" charset="-120"/>
              </a:rPr>
              <a:t>875,6</a:t>
            </a:r>
            <a:endParaRPr lang="en-US" sz="2000" dirty="0"/>
          </a:p>
        </p:txBody>
      </p:sp>
      <p:sp>
        <p:nvSpPr>
          <p:cNvPr id="25" name="Text 18"/>
          <p:cNvSpPr txBox="1"/>
          <p:nvPr/>
        </p:nvSpPr>
        <p:spPr>
          <a:xfrm>
            <a:off x="8280197" y="5623560"/>
            <a:ext cx="1097280" cy="338328"/>
          </a:xfrm>
          <a:prstGeom prst="rect">
            <a:avLst/>
          </a:prstGeom>
          <a:noFill/>
          <a:ln/>
        </p:spPr>
        <p:txBody>
          <a:bodyPr wrap="square" lIns="0" tIns="0" rIns="0" bIns="0" rtlCol="0" anchor="ctr"/>
          <a:lstStyle/>
          <a:p>
            <a:pPr marL="0" indent="0">
              <a:buNone/>
            </a:pPr>
            <a:r>
              <a:rPr lang="en-US" sz="1400" b="1" dirty="0">
                <a:solidFill>
                  <a:srgbClr val="0369A1"/>
                </a:solidFill>
                <a:latin typeface="Calibri" pitchFamily="34" charset="0"/>
                <a:ea typeface="Calibri" pitchFamily="34" charset="-122"/>
                <a:cs typeface="Calibri" pitchFamily="34" charset="-120"/>
              </a:rPr>
              <a:t>p-value</a:t>
            </a:r>
            <a:endParaRPr lang="en-US" sz="1400" dirty="0"/>
          </a:p>
        </p:txBody>
      </p:sp>
      <p:sp>
        <p:nvSpPr>
          <p:cNvPr id="26" name="Text 19"/>
          <p:cNvSpPr txBox="1"/>
          <p:nvPr/>
        </p:nvSpPr>
        <p:spPr>
          <a:xfrm>
            <a:off x="9286037" y="5623560"/>
            <a:ext cx="2103120" cy="338328"/>
          </a:xfrm>
          <a:prstGeom prst="rect">
            <a:avLst/>
          </a:prstGeom>
          <a:noFill/>
          <a:ln/>
        </p:spPr>
        <p:txBody>
          <a:bodyPr wrap="square" lIns="0" tIns="0" rIns="0" bIns="0" rtlCol="0" anchor="ctr"/>
          <a:lstStyle/>
          <a:p>
            <a:pPr marL="0" indent="0">
              <a:buNone/>
            </a:pPr>
            <a:r>
              <a:rPr lang="en-US" sz="2000" b="1" dirty="0">
                <a:solidFill>
                  <a:srgbClr val="0284C7"/>
                </a:solidFill>
                <a:latin typeface="Courier New" pitchFamily="34" charset="0"/>
                <a:ea typeface="Courier New" pitchFamily="34" charset="-122"/>
                <a:cs typeface="Courier New" pitchFamily="34" charset="-120"/>
              </a:rPr>
              <a:t>&lt; 0,001</a:t>
            </a:r>
            <a:endParaRPr lang="en-US" sz="2000" dirty="0"/>
          </a:p>
        </p:txBody>
      </p:sp>
      <p:sp>
        <p:nvSpPr>
          <p:cNvPr id="27" name="Text 20"/>
          <p:cNvSpPr txBox="1"/>
          <p:nvPr/>
        </p:nvSpPr>
        <p:spPr>
          <a:xfrm>
            <a:off x="8280197" y="5961888"/>
            <a:ext cx="1097280" cy="338328"/>
          </a:xfrm>
          <a:prstGeom prst="rect">
            <a:avLst/>
          </a:prstGeom>
          <a:noFill/>
          <a:ln/>
        </p:spPr>
        <p:txBody>
          <a:bodyPr wrap="square" lIns="0" tIns="0" rIns="0" bIns="0" rtlCol="0" anchor="ctr"/>
          <a:lstStyle/>
          <a:p>
            <a:pPr marL="0" indent="0">
              <a:buNone/>
            </a:pPr>
            <a:r>
              <a:rPr lang="en-US" sz="1400" b="1" dirty="0">
                <a:solidFill>
                  <a:srgbClr val="0369A1"/>
                </a:solidFill>
                <a:latin typeface="Calibri" pitchFamily="34" charset="0"/>
                <a:ea typeface="Calibri" pitchFamily="34" charset="-122"/>
                <a:cs typeface="Calibri" pitchFamily="34" charset="-120"/>
              </a:rPr>
              <a:t>η²</a:t>
            </a:r>
            <a:endParaRPr lang="en-US" sz="1400" dirty="0"/>
          </a:p>
        </p:txBody>
      </p:sp>
      <p:sp>
        <p:nvSpPr>
          <p:cNvPr id="28" name="Text 21"/>
          <p:cNvSpPr txBox="1"/>
          <p:nvPr/>
        </p:nvSpPr>
        <p:spPr>
          <a:xfrm>
            <a:off x="9286037" y="5961888"/>
            <a:ext cx="2103120" cy="338328"/>
          </a:xfrm>
          <a:prstGeom prst="rect">
            <a:avLst/>
          </a:prstGeom>
          <a:noFill/>
          <a:ln/>
        </p:spPr>
        <p:txBody>
          <a:bodyPr wrap="square" lIns="0" tIns="0" rIns="0" bIns="0" rtlCol="0" anchor="ctr"/>
          <a:lstStyle/>
          <a:p>
            <a:pPr marL="0" indent="0">
              <a:buNone/>
            </a:pPr>
            <a:r>
              <a:rPr lang="en-US" sz="2000" b="1" dirty="0">
                <a:solidFill>
                  <a:srgbClr val="0284C7"/>
                </a:solidFill>
                <a:latin typeface="Courier New" pitchFamily="34" charset="0"/>
                <a:ea typeface="Courier New" pitchFamily="34" charset="-122"/>
                <a:cs typeface="Courier New" pitchFamily="34" charset="-120"/>
              </a:rPr>
              <a:t>0,237</a:t>
            </a:r>
            <a:endParaRPr lang="en-US" sz="2000" dirty="0"/>
          </a:p>
        </p:txBody>
      </p:sp>
      <p:sp>
        <p:nvSpPr>
          <p:cNvPr id="29" name="Freeform 9">
            <a:extLst>
              <a:ext uri="{FF2B5EF4-FFF2-40B4-BE49-F238E27FC236}">
                <a16:creationId xmlns:a16="http://schemas.microsoft.com/office/drawing/2014/main" id="{65A20F9E-522D-0DA8-4636-1A8A3AB8C274}"/>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7"/>
            <a:stretch>
              <a:fillRect b="-51881"/>
            </a:stretch>
          </a:blipFill>
        </p:spPr>
        <p:txBody>
          <a:bodyPr/>
          <a:lstStyle/>
          <a:p>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PHÁT HIỆN EDA 02</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NHIỆT ĐỘ, LƯỢNG MƯA VÀ TƯƠNG QUAN</a:t>
            </a:r>
            <a:endParaRPr lang="en-US" sz="3000" dirty="0"/>
          </a:p>
        </p:txBody>
      </p:sp>
      <p:sp>
        <p:nvSpPr>
          <p:cNvPr id="5" name="Shape 2"/>
          <p:cNvSpPr/>
          <p:nvPr/>
        </p:nvSpPr>
        <p:spPr>
          <a:xfrm>
            <a:off x="548640" y="1508760"/>
            <a:ext cx="6675120" cy="3246120"/>
          </a:xfrm>
          <a:prstGeom prst="roundRect">
            <a:avLst>
              <a:gd name="adj" fmla="val 2817"/>
            </a:avLst>
          </a:prstGeom>
          <a:solidFill>
            <a:srgbClr val="F8FAFC"/>
          </a:solidFill>
          <a:ln w="12700">
            <a:solidFill>
              <a:srgbClr val="E2E8F0"/>
            </a:solidFill>
            <a:prstDash val="solid"/>
          </a:ln>
        </p:spPr>
        <p:txBody>
          <a:bodyPr/>
          <a:lstStyle/>
          <a:p>
            <a:endParaRPr lang="en-US"/>
          </a:p>
        </p:txBody>
      </p:sp>
      <p:pic>
        <p:nvPicPr>
          <p:cNvPr id="6" name="Image 0" descr="06b_nhiet_do_va_mua.png"/>
          <p:cNvPicPr>
            <a:picLocks noChangeAspect="1"/>
          </p:cNvPicPr>
          <p:nvPr/>
        </p:nvPicPr>
        <p:blipFill>
          <a:blip r:embed="rId3"/>
          <a:stretch>
            <a:fillRect/>
          </a:stretch>
        </p:blipFill>
        <p:spPr>
          <a:xfrm>
            <a:off x="1520233" y="1600200"/>
            <a:ext cx="4731933" cy="2743200"/>
          </a:xfrm>
          <a:prstGeom prst="rect">
            <a:avLst/>
          </a:prstGeom>
        </p:spPr>
      </p:pic>
      <p:sp>
        <p:nvSpPr>
          <p:cNvPr id="7" name="Text 3"/>
          <p:cNvSpPr txBox="1"/>
          <p:nvPr/>
        </p:nvSpPr>
        <p:spPr>
          <a:xfrm>
            <a:off x="640080" y="4407408"/>
            <a:ext cx="649224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Hình 5. Số lượt thuê theo nhiệt độ (a) và mức mưa (b)</a:t>
            </a:r>
            <a:endParaRPr lang="en-US" sz="1200" dirty="0"/>
          </a:p>
        </p:txBody>
      </p:sp>
      <p:sp>
        <p:nvSpPr>
          <p:cNvPr id="8" name="Shape 4"/>
          <p:cNvSpPr/>
          <p:nvPr/>
        </p:nvSpPr>
        <p:spPr>
          <a:xfrm>
            <a:off x="7406640" y="1508760"/>
            <a:ext cx="4236415" cy="3246120"/>
          </a:xfrm>
          <a:prstGeom prst="roundRect">
            <a:avLst>
              <a:gd name="adj" fmla="val 2817"/>
            </a:avLst>
          </a:prstGeom>
          <a:solidFill>
            <a:srgbClr val="F8FAFC"/>
          </a:solidFill>
          <a:ln w="12700">
            <a:solidFill>
              <a:srgbClr val="E2E8F0"/>
            </a:solidFill>
            <a:prstDash val="solid"/>
          </a:ln>
        </p:spPr>
        <p:txBody>
          <a:bodyPr/>
          <a:lstStyle/>
          <a:p>
            <a:endParaRPr lang="en-US"/>
          </a:p>
        </p:txBody>
      </p:sp>
      <p:pic>
        <p:nvPicPr>
          <p:cNvPr id="9" name="Image 1" descr="08_heatmap_tuong_quan.png"/>
          <p:cNvPicPr>
            <a:picLocks noChangeAspect="1"/>
          </p:cNvPicPr>
          <p:nvPr/>
        </p:nvPicPr>
        <p:blipFill>
          <a:blip r:embed="rId4"/>
          <a:stretch>
            <a:fillRect/>
          </a:stretch>
        </p:blipFill>
        <p:spPr>
          <a:xfrm>
            <a:off x="7867654" y="1600200"/>
            <a:ext cx="3314387" cy="2743200"/>
          </a:xfrm>
          <a:prstGeom prst="rect">
            <a:avLst/>
          </a:prstGeom>
        </p:spPr>
      </p:pic>
      <p:sp>
        <p:nvSpPr>
          <p:cNvPr id="10" name="Text 5"/>
          <p:cNvSpPr txBox="1"/>
          <p:nvPr/>
        </p:nvSpPr>
        <p:spPr>
          <a:xfrm>
            <a:off x="7498080" y="4407408"/>
            <a:ext cx="4053535"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Hình 6. Ma trận tương quan</a:t>
            </a:r>
            <a:endParaRPr lang="en-US" sz="1200" dirty="0"/>
          </a:p>
        </p:txBody>
      </p:sp>
      <p:sp>
        <p:nvSpPr>
          <p:cNvPr id="11" name="Shape 6"/>
          <p:cNvSpPr/>
          <p:nvPr/>
        </p:nvSpPr>
        <p:spPr>
          <a:xfrm>
            <a:off x="548640" y="4892040"/>
            <a:ext cx="3545738" cy="1463040"/>
          </a:xfrm>
          <a:prstGeom prst="roundRect">
            <a:avLst>
              <a:gd name="adj" fmla="val 6250"/>
            </a:avLst>
          </a:prstGeom>
          <a:solidFill>
            <a:srgbClr val="F8FAFC"/>
          </a:solidFill>
          <a:ln w="12700">
            <a:solidFill>
              <a:srgbClr val="E2E8F0"/>
            </a:solidFill>
            <a:prstDash val="solid"/>
          </a:ln>
        </p:spPr>
        <p:txBody>
          <a:bodyPr/>
          <a:lstStyle/>
          <a:p>
            <a:endParaRPr lang="en-US"/>
          </a:p>
        </p:txBody>
      </p:sp>
      <p:sp>
        <p:nvSpPr>
          <p:cNvPr id="12" name="Shape 7"/>
          <p:cNvSpPr/>
          <p:nvPr/>
        </p:nvSpPr>
        <p:spPr>
          <a:xfrm>
            <a:off x="731520" y="4956048"/>
            <a:ext cx="420624" cy="420624"/>
          </a:xfrm>
          <a:prstGeom prst="ellipse">
            <a:avLst/>
          </a:prstGeom>
          <a:solidFill>
            <a:srgbClr val="FFE4E6"/>
          </a:solidFill>
          <a:ln w="12700">
            <a:solidFill>
              <a:srgbClr val="FFE4E6"/>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832104" y="5056632"/>
            <a:ext cx="219456" cy="219456"/>
          </a:xfrm>
          <a:prstGeom prst="rect">
            <a:avLst/>
          </a:prstGeom>
        </p:spPr>
      </p:pic>
      <p:sp>
        <p:nvSpPr>
          <p:cNvPr id="14" name="Text 8"/>
          <p:cNvSpPr txBox="1"/>
          <p:nvPr/>
        </p:nvSpPr>
        <p:spPr>
          <a:xfrm>
            <a:off x="1280160" y="4956048"/>
            <a:ext cx="2722778"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Nhiệt độ (r = 0,56)</a:t>
            </a:r>
            <a:endParaRPr lang="en-US" sz="1600" dirty="0"/>
          </a:p>
        </p:txBody>
      </p:sp>
      <p:sp>
        <p:nvSpPr>
          <p:cNvPr id="15" name="Text 9"/>
          <p:cNvSpPr txBox="1"/>
          <p:nvPr/>
        </p:nvSpPr>
        <p:spPr>
          <a:xfrm>
            <a:off x="731520" y="5468112"/>
            <a:ext cx="3179978" cy="8686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Tương quan dương mạnh nhất. Đỉnh 1.254 lượt/giờ ở 25 °C, giảm còn 879 ở 37 °C (quan hệ phi tuyến).</a:t>
            </a:r>
            <a:endParaRPr lang="en-US" sz="1400" dirty="0"/>
          </a:p>
        </p:txBody>
      </p:sp>
      <p:sp>
        <p:nvSpPr>
          <p:cNvPr id="16" name="Shape 10"/>
          <p:cNvSpPr/>
          <p:nvPr/>
        </p:nvSpPr>
        <p:spPr>
          <a:xfrm>
            <a:off x="4322978" y="4892040"/>
            <a:ext cx="3545738" cy="1463040"/>
          </a:xfrm>
          <a:prstGeom prst="roundRect">
            <a:avLst>
              <a:gd name="adj" fmla="val 6250"/>
            </a:avLst>
          </a:prstGeom>
          <a:solidFill>
            <a:srgbClr val="F8FAFC"/>
          </a:solidFill>
          <a:ln w="12700">
            <a:solidFill>
              <a:srgbClr val="E2E8F0"/>
            </a:solidFill>
            <a:prstDash val="solid"/>
          </a:ln>
        </p:spPr>
        <p:txBody>
          <a:bodyPr/>
          <a:lstStyle/>
          <a:p>
            <a:endParaRPr lang="en-US"/>
          </a:p>
        </p:txBody>
      </p:sp>
      <p:sp>
        <p:nvSpPr>
          <p:cNvPr id="17" name="Shape 11"/>
          <p:cNvSpPr/>
          <p:nvPr/>
        </p:nvSpPr>
        <p:spPr>
          <a:xfrm>
            <a:off x="4505858" y="4956048"/>
            <a:ext cx="420624" cy="420624"/>
          </a:xfrm>
          <a:prstGeom prst="ellipse">
            <a:avLst/>
          </a:prstGeom>
          <a:solidFill>
            <a:srgbClr val="E0F2FE"/>
          </a:solidFill>
          <a:ln w="12700">
            <a:solidFill>
              <a:srgbClr val="E0F2FE"/>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4606442" y="5056632"/>
            <a:ext cx="219456" cy="219456"/>
          </a:xfrm>
          <a:prstGeom prst="rect">
            <a:avLst/>
          </a:prstGeom>
        </p:spPr>
      </p:pic>
      <p:sp>
        <p:nvSpPr>
          <p:cNvPr id="19" name="Text 12"/>
          <p:cNvSpPr txBox="1"/>
          <p:nvPr/>
        </p:nvSpPr>
        <p:spPr>
          <a:xfrm>
            <a:off x="5054498" y="4956048"/>
            <a:ext cx="2722778"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Lượng mưa</a:t>
            </a:r>
            <a:endParaRPr lang="en-US" sz="1600" dirty="0"/>
          </a:p>
        </p:txBody>
      </p:sp>
      <p:sp>
        <p:nvSpPr>
          <p:cNvPr id="20" name="Text 13"/>
          <p:cNvSpPr txBox="1"/>
          <p:nvPr/>
        </p:nvSpPr>
        <p:spPr>
          <a:xfrm>
            <a:off x="4505858" y="5468112"/>
            <a:ext cx="3179978" cy="8686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766 lượt (không mưa) → 224 (mưa nhỏ) → 73 lượt/giờ (mưa lớn).</a:t>
            </a:r>
            <a:endParaRPr lang="en-US" sz="1400" dirty="0"/>
          </a:p>
        </p:txBody>
      </p:sp>
      <p:sp>
        <p:nvSpPr>
          <p:cNvPr id="21" name="Shape 14"/>
          <p:cNvSpPr/>
          <p:nvPr/>
        </p:nvSpPr>
        <p:spPr>
          <a:xfrm>
            <a:off x="8097317" y="4892040"/>
            <a:ext cx="3545738" cy="1463040"/>
          </a:xfrm>
          <a:prstGeom prst="roundRect">
            <a:avLst>
              <a:gd name="adj" fmla="val 6250"/>
            </a:avLst>
          </a:prstGeom>
          <a:solidFill>
            <a:srgbClr val="FFF7ED"/>
          </a:solidFill>
          <a:ln w="12700">
            <a:solidFill>
              <a:srgbClr val="FED7AA"/>
            </a:solidFill>
            <a:prstDash val="solid"/>
          </a:ln>
        </p:spPr>
        <p:txBody>
          <a:bodyPr/>
          <a:lstStyle/>
          <a:p>
            <a:endParaRPr lang="en-US"/>
          </a:p>
        </p:txBody>
      </p:sp>
      <p:sp>
        <p:nvSpPr>
          <p:cNvPr id="22" name="Shape 15"/>
          <p:cNvSpPr/>
          <p:nvPr/>
        </p:nvSpPr>
        <p:spPr>
          <a:xfrm>
            <a:off x="8280197" y="4956048"/>
            <a:ext cx="420624" cy="420624"/>
          </a:xfrm>
          <a:prstGeom prst="ellipse">
            <a:avLst/>
          </a:prstGeom>
          <a:solidFill>
            <a:srgbClr val="FFEDD5"/>
          </a:solidFill>
          <a:ln w="12700">
            <a:solidFill>
              <a:srgbClr val="FFEDD5"/>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8380781" y="5056632"/>
            <a:ext cx="219456" cy="219456"/>
          </a:xfrm>
          <a:prstGeom prst="rect">
            <a:avLst/>
          </a:prstGeom>
        </p:spPr>
      </p:pic>
      <p:sp>
        <p:nvSpPr>
          <p:cNvPr id="24" name="Text 16"/>
          <p:cNvSpPr txBox="1"/>
          <p:nvPr/>
        </p:nvSpPr>
        <p:spPr>
          <a:xfrm>
            <a:off x="8828837" y="4956048"/>
            <a:ext cx="2722778"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Cảnh báo đa cộng tuyến</a:t>
            </a:r>
            <a:endParaRPr lang="en-US" sz="1600" dirty="0"/>
          </a:p>
        </p:txBody>
      </p:sp>
      <p:sp>
        <p:nvSpPr>
          <p:cNvPr id="25" name="Text 17"/>
          <p:cNvSpPr txBox="1"/>
          <p:nvPr/>
        </p:nvSpPr>
        <p:spPr>
          <a:xfrm>
            <a:off x="8280197" y="5468112"/>
            <a:ext cx="3179978" cy="868680"/>
          </a:xfrm>
          <a:prstGeom prst="rect">
            <a:avLst/>
          </a:prstGeom>
          <a:noFill/>
          <a:ln/>
        </p:spPr>
        <p:txBody>
          <a:bodyPr wrap="square" lIns="0" tIns="0" rIns="0" bIns="0" rtlCol="0" anchor="t"/>
          <a:lstStyle/>
          <a:p>
            <a:pPr marL="0" indent="0">
              <a:buNone/>
            </a:pPr>
            <a:r>
              <a:rPr lang="en-US" sz="1400" dirty="0">
                <a:solidFill>
                  <a:srgbClr val="9A3412"/>
                </a:solidFill>
                <a:latin typeface="Calibri" pitchFamily="34" charset="0"/>
                <a:ea typeface="Calibri" pitchFamily="34" charset="-122"/>
                <a:cs typeface="Calibri" pitchFamily="34" charset="-120"/>
              </a:rPr>
              <a:t>Nhiệt độ và điểm sương có r = 0,91 (gần như trùng thông tin).</a:t>
            </a:r>
            <a:endParaRPr lang="en-US" sz="1400" dirty="0"/>
          </a:p>
        </p:txBody>
      </p:sp>
      <p:sp>
        <p:nvSpPr>
          <p:cNvPr id="26" name="Freeform 9">
            <a:extLst>
              <a:ext uri="{FF2B5EF4-FFF2-40B4-BE49-F238E27FC236}">
                <a16:creationId xmlns:a16="http://schemas.microsoft.com/office/drawing/2014/main" id="{E183BBAF-8DD5-3ED1-03C5-E915513B619B}"/>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8"/>
            <a:stretch>
              <a:fillRect b="-51881"/>
            </a:stretch>
          </a:blipFill>
        </p:spPr>
        <p:txBody>
          <a:bodyPr/>
          <a:lstStyle/>
          <a:p>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TỔNG HỢP PHÁT HIỆN</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DASHBOARD TỔNG HỢP CÁC PHÁT HIỆN</a:t>
            </a:r>
            <a:endParaRPr lang="en-US" sz="3000" dirty="0"/>
          </a:p>
        </p:txBody>
      </p:sp>
      <p:sp>
        <p:nvSpPr>
          <p:cNvPr id="5" name="Shape 2"/>
          <p:cNvSpPr/>
          <p:nvPr/>
        </p:nvSpPr>
        <p:spPr>
          <a:xfrm>
            <a:off x="548640" y="1600200"/>
            <a:ext cx="6400800" cy="4617720"/>
          </a:xfrm>
          <a:prstGeom prst="roundRect">
            <a:avLst>
              <a:gd name="adj" fmla="val 2564"/>
            </a:avLst>
          </a:prstGeom>
          <a:solidFill>
            <a:srgbClr val="F8FAFC"/>
          </a:solidFill>
          <a:ln w="12700">
            <a:solidFill>
              <a:srgbClr val="E2E8F0"/>
            </a:solidFill>
            <a:prstDash val="solid"/>
          </a:ln>
        </p:spPr>
        <p:txBody>
          <a:bodyPr/>
          <a:lstStyle/>
          <a:p>
            <a:endParaRPr lang="en-US"/>
          </a:p>
        </p:txBody>
      </p:sp>
      <p:sp>
        <p:nvSpPr>
          <p:cNvPr id="7" name="Text 3"/>
          <p:cNvSpPr txBox="1"/>
          <p:nvPr/>
        </p:nvSpPr>
        <p:spPr>
          <a:xfrm>
            <a:off x="640080" y="5870448"/>
            <a:ext cx="621792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Hình 7. Dashboard tổng hợp nhu cầu thuê xe theo giờ, mùa, nhiệt độ và mức mưa</a:t>
            </a:r>
            <a:endParaRPr lang="en-US" sz="1200" dirty="0"/>
          </a:p>
        </p:txBody>
      </p:sp>
      <p:sp>
        <p:nvSpPr>
          <p:cNvPr id="10" name="Shape 6"/>
          <p:cNvSpPr/>
          <p:nvPr/>
        </p:nvSpPr>
        <p:spPr>
          <a:xfrm>
            <a:off x="7178040" y="1600200"/>
            <a:ext cx="4465015" cy="1051560"/>
          </a:xfrm>
          <a:prstGeom prst="roundRect">
            <a:avLst>
              <a:gd name="adj" fmla="val 8696"/>
            </a:avLst>
          </a:prstGeom>
          <a:solidFill>
            <a:srgbClr val="F8FAFC"/>
          </a:solidFill>
          <a:ln w="12700">
            <a:solidFill>
              <a:srgbClr val="E2E8F0"/>
            </a:solidFill>
            <a:prstDash val="solid"/>
          </a:ln>
        </p:spPr>
        <p:txBody>
          <a:bodyPr/>
          <a:lstStyle/>
          <a:p>
            <a:endParaRPr lang="en-US"/>
          </a:p>
        </p:txBody>
      </p:sp>
      <p:sp>
        <p:nvSpPr>
          <p:cNvPr id="11" name="Shape 7"/>
          <p:cNvSpPr/>
          <p:nvPr/>
        </p:nvSpPr>
        <p:spPr>
          <a:xfrm>
            <a:off x="7406640" y="1728216"/>
            <a:ext cx="420624" cy="420624"/>
          </a:xfrm>
          <a:prstGeom prst="ellipse">
            <a:avLst/>
          </a:prstGeom>
          <a:solidFill>
            <a:srgbClr val="E0F2FE"/>
          </a:solidFill>
          <a:ln w="12700">
            <a:solidFill>
              <a:srgbClr val="E0F2FE"/>
            </a:solidFill>
            <a:prstDash val="solid"/>
          </a:ln>
        </p:spPr>
        <p:txBody>
          <a:bodyPr/>
          <a:lstStyle/>
          <a:p>
            <a:endParaRPr lang="en-US"/>
          </a:p>
        </p:txBody>
      </p:sp>
      <p:sp>
        <p:nvSpPr>
          <p:cNvPr id="13" name="Text 8"/>
          <p:cNvSpPr txBox="1"/>
          <p:nvPr/>
        </p:nvSpPr>
        <p:spPr>
          <a:xfrm>
            <a:off x="7955280" y="1728216"/>
            <a:ext cx="34747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Nhịp đi làm trong ngày</a:t>
            </a:r>
            <a:endParaRPr lang="en-US" sz="1600" dirty="0"/>
          </a:p>
        </p:txBody>
      </p:sp>
      <p:sp>
        <p:nvSpPr>
          <p:cNvPr id="14" name="Text 9"/>
          <p:cNvSpPr txBox="1"/>
          <p:nvPr/>
        </p:nvSpPr>
        <p:spPr>
          <a:xfrm>
            <a:off x="7955280" y="2185416"/>
            <a:ext cx="3566160" cy="4114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Ngày thường hai đỉnh 8h và 18h; cuối tuần chỉ một đỉnh chiều.</a:t>
            </a:r>
            <a:endParaRPr lang="en-US" sz="1400" dirty="0"/>
          </a:p>
        </p:txBody>
      </p:sp>
      <p:sp>
        <p:nvSpPr>
          <p:cNvPr id="15" name="Shape 10"/>
          <p:cNvSpPr/>
          <p:nvPr/>
        </p:nvSpPr>
        <p:spPr>
          <a:xfrm>
            <a:off x="7178040" y="2788920"/>
            <a:ext cx="4465015" cy="1051560"/>
          </a:xfrm>
          <a:prstGeom prst="roundRect">
            <a:avLst>
              <a:gd name="adj" fmla="val 8696"/>
            </a:avLst>
          </a:prstGeom>
          <a:solidFill>
            <a:srgbClr val="F8FAFC"/>
          </a:solidFill>
          <a:ln w="12700">
            <a:solidFill>
              <a:srgbClr val="E2E8F0"/>
            </a:solidFill>
            <a:prstDash val="solid"/>
          </a:ln>
        </p:spPr>
        <p:txBody>
          <a:bodyPr/>
          <a:lstStyle/>
          <a:p>
            <a:endParaRPr lang="en-US"/>
          </a:p>
        </p:txBody>
      </p:sp>
      <p:sp>
        <p:nvSpPr>
          <p:cNvPr id="16" name="Shape 11"/>
          <p:cNvSpPr/>
          <p:nvPr/>
        </p:nvSpPr>
        <p:spPr>
          <a:xfrm>
            <a:off x="7406640" y="2916936"/>
            <a:ext cx="420624" cy="420624"/>
          </a:xfrm>
          <a:prstGeom prst="ellipse">
            <a:avLst/>
          </a:prstGeom>
          <a:solidFill>
            <a:srgbClr val="FEF3C7"/>
          </a:solidFill>
          <a:ln w="12700">
            <a:solidFill>
              <a:srgbClr val="FEF3C7"/>
            </a:solidFill>
            <a:prstDash val="solid"/>
          </a:ln>
        </p:spPr>
        <p:txBody>
          <a:bodyPr/>
          <a:lstStyle/>
          <a:p>
            <a:endParaRPr lang="en-US"/>
          </a:p>
        </p:txBody>
      </p:sp>
      <p:sp>
        <p:nvSpPr>
          <p:cNvPr id="18" name="Text 12"/>
          <p:cNvSpPr txBox="1"/>
          <p:nvPr/>
        </p:nvSpPr>
        <p:spPr>
          <a:xfrm>
            <a:off x="7955280" y="2916936"/>
            <a:ext cx="34747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Chênh lệch giữa các mùa</a:t>
            </a:r>
            <a:endParaRPr lang="en-US" sz="1600" dirty="0"/>
          </a:p>
        </p:txBody>
      </p:sp>
      <p:sp>
        <p:nvSpPr>
          <p:cNvPr id="19" name="Text 13"/>
          <p:cNvSpPr txBox="1"/>
          <p:nvPr/>
        </p:nvSpPr>
        <p:spPr>
          <a:xfrm>
            <a:off x="7955280" y="3374136"/>
            <a:ext cx="3566160" cy="4114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Mùa Hạ 1.034 so với mùa Đông 226 lượt/giờ, gấp 4,6 lần.</a:t>
            </a:r>
            <a:endParaRPr lang="en-US" sz="1400" dirty="0"/>
          </a:p>
        </p:txBody>
      </p:sp>
      <p:sp>
        <p:nvSpPr>
          <p:cNvPr id="20" name="Shape 14"/>
          <p:cNvSpPr/>
          <p:nvPr/>
        </p:nvSpPr>
        <p:spPr>
          <a:xfrm>
            <a:off x="7178040" y="3977640"/>
            <a:ext cx="4465015" cy="1051560"/>
          </a:xfrm>
          <a:prstGeom prst="roundRect">
            <a:avLst>
              <a:gd name="adj" fmla="val 8696"/>
            </a:avLst>
          </a:prstGeom>
          <a:solidFill>
            <a:srgbClr val="F8FAFC"/>
          </a:solidFill>
          <a:ln w="12700">
            <a:solidFill>
              <a:srgbClr val="E2E8F0"/>
            </a:solidFill>
            <a:prstDash val="solid"/>
          </a:ln>
        </p:spPr>
        <p:txBody>
          <a:bodyPr/>
          <a:lstStyle/>
          <a:p>
            <a:endParaRPr lang="en-US"/>
          </a:p>
        </p:txBody>
      </p:sp>
      <p:sp>
        <p:nvSpPr>
          <p:cNvPr id="21" name="Shape 15"/>
          <p:cNvSpPr/>
          <p:nvPr/>
        </p:nvSpPr>
        <p:spPr>
          <a:xfrm>
            <a:off x="7406640" y="4105656"/>
            <a:ext cx="420624" cy="420624"/>
          </a:xfrm>
          <a:prstGeom prst="ellipse">
            <a:avLst/>
          </a:prstGeom>
          <a:solidFill>
            <a:srgbClr val="F3E8FF"/>
          </a:solidFill>
          <a:ln w="12700">
            <a:solidFill>
              <a:srgbClr val="F3E8FF"/>
            </a:solidFill>
            <a:prstDash val="solid"/>
          </a:ln>
        </p:spPr>
        <p:txBody>
          <a:bodyPr/>
          <a:lstStyle/>
          <a:p>
            <a:endParaRPr lang="en-US"/>
          </a:p>
        </p:txBody>
      </p:sp>
      <p:sp>
        <p:nvSpPr>
          <p:cNvPr id="23" name="Text 16"/>
          <p:cNvSpPr txBox="1"/>
          <p:nvPr/>
        </p:nvSpPr>
        <p:spPr>
          <a:xfrm>
            <a:off x="7955280" y="4105656"/>
            <a:ext cx="34747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Ngưỡng nhiệt độ dễ chịu</a:t>
            </a:r>
            <a:endParaRPr lang="en-US" sz="1600" dirty="0"/>
          </a:p>
        </p:txBody>
      </p:sp>
      <p:sp>
        <p:nvSpPr>
          <p:cNvPr id="24" name="Text 17"/>
          <p:cNvSpPr txBox="1"/>
          <p:nvPr/>
        </p:nvSpPr>
        <p:spPr>
          <a:xfrm>
            <a:off x="7955280" y="4562856"/>
            <a:ext cx="3566160" cy="4114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Nhu cầu tăng đến khoảng 25 °C rồi giảm khi trời quá nóng.</a:t>
            </a:r>
            <a:endParaRPr lang="en-US" sz="1400" dirty="0"/>
          </a:p>
        </p:txBody>
      </p:sp>
      <p:sp>
        <p:nvSpPr>
          <p:cNvPr id="25" name="Shape 18"/>
          <p:cNvSpPr/>
          <p:nvPr/>
        </p:nvSpPr>
        <p:spPr>
          <a:xfrm>
            <a:off x="7178040" y="5166360"/>
            <a:ext cx="4465015" cy="1051560"/>
          </a:xfrm>
          <a:prstGeom prst="roundRect">
            <a:avLst>
              <a:gd name="adj" fmla="val 8696"/>
            </a:avLst>
          </a:prstGeom>
          <a:solidFill>
            <a:srgbClr val="F8FAFC"/>
          </a:solidFill>
          <a:ln w="12700">
            <a:solidFill>
              <a:srgbClr val="E2E8F0"/>
            </a:solidFill>
            <a:prstDash val="solid"/>
          </a:ln>
        </p:spPr>
        <p:txBody>
          <a:bodyPr/>
          <a:lstStyle/>
          <a:p>
            <a:endParaRPr lang="en-US"/>
          </a:p>
        </p:txBody>
      </p:sp>
      <p:sp>
        <p:nvSpPr>
          <p:cNvPr id="26" name="Shape 19"/>
          <p:cNvSpPr/>
          <p:nvPr/>
        </p:nvSpPr>
        <p:spPr>
          <a:xfrm>
            <a:off x="7406640" y="5294376"/>
            <a:ext cx="420624" cy="420624"/>
          </a:xfrm>
          <a:prstGeom prst="ellipse">
            <a:avLst/>
          </a:prstGeom>
          <a:solidFill>
            <a:srgbClr val="DCFCE7"/>
          </a:solidFill>
          <a:ln w="12700">
            <a:solidFill>
              <a:srgbClr val="DCFCE7"/>
            </a:solidFill>
            <a:prstDash val="solid"/>
          </a:ln>
        </p:spPr>
        <p:txBody>
          <a:bodyPr/>
          <a:lstStyle/>
          <a:p>
            <a:endParaRPr lang="en-US"/>
          </a:p>
        </p:txBody>
      </p:sp>
      <p:sp>
        <p:nvSpPr>
          <p:cNvPr id="28" name="Text 20"/>
          <p:cNvSpPr txBox="1"/>
          <p:nvPr/>
        </p:nvSpPr>
        <p:spPr>
          <a:xfrm>
            <a:off x="7955280" y="5294376"/>
            <a:ext cx="34747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Tác động của mưa</a:t>
            </a:r>
            <a:endParaRPr lang="en-US" sz="1600" dirty="0"/>
          </a:p>
        </p:txBody>
      </p:sp>
      <p:sp>
        <p:nvSpPr>
          <p:cNvPr id="29" name="Text 21"/>
          <p:cNvSpPr txBox="1"/>
          <p:nvPr/>
        </p:nvSpPr>
        <p:spPr>
          <a:xfrm>
            <a:off x="7955280" y="5751576"/>
            <a:ext cx="3566160" cy="411480"/>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Mưa lớn làm nhu cầu giảm hơn 90% so với giờ không mưa.</a:t>
            </a:r>
            <a:endParaRPr lang="en-US" sz="1400" dirty="0"/>
          </a:p>
        </p:txBody>
      </p:sp>
      <p:sp>
        <p:nvSpPr>
          <p:cNvPr id="32" name="Freeform 9">
            <a:extLst>
              <a:ext uri="{FF2B5EF4-FFF2-40B4-BE49-F238E27FC236}">
                <a16:creationId xmlns:a16="http://schemas.microsoft.com/office/drawing/2014/main" id="{06678177-E45A-54C4-14D1-E68F210BF3A1}"/>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3"/>
            <a:stretch>
              <a:fillRect b="-51881"/>
            </a:stretch>
          </a:blipFill>
        </p:spPr>
        <p:txBody>
          <a:bodyPr/>
          <a:lstStyle/>
          <a:p>
            <a:endParaRPr lang="en-US" sz="1200" dirty="0"/>
          </a:p>
        </p:txBody>
      </p:sp>
      <p:pic>
        <p:nvPicPr>
          <p:cNvPr id="33" name="Image 0" descr="10_dashboard_tong_hop.png"/>
          <p:cNvPicPr>
            <a:picLocks noChangeAspect="1"/>
          </p:cNvPicPr>
          <p:nvPr/>
        </p:nvPicPr>
        <p:blipFill>
          <a:blip r:embed="rId4"/>
          <a:stretch>
            <a:fillRect/>
          </a:stretch>
        </p:blipFill>
        <p:spPr>
          <a:xfrm>
            <a:off x="1184148" y="1691640"/>
            <a:ext cx="5129784" cy="4114800"/>
          </a:xfrm>
          <a:prstGeom prst="rect">
            <a:avLst/>
          </a:prstGeom>
        </p:spPr>
      </p:pic>
      <p:pic>
        <p:nvPicPr>
          <p:cNvPr id="34" name="Image 1" descr="image.png"/>
          <p:cNvPicPr>
            <a:picLocks noChangeAspect="1"/>
          </p:cNvPicPr>
          <p:nvPr/>
        </p:nvPicPr>
        <p:blipFill>
          <a:blip r:embed="rId5"/>
          <a:stretch>
            <a:fillRect/>
          </a:stretch>
        </p:blipFill>
        <p:spPr>
          <a:xfrm>
            <a:off x="7507224" y="1828800"/>
            <a:ext cx="219456" cy="219456"/>
          </a:xfrm>
          <a:prstGeom prst="rect">
            <a:avLst/>
          </a:prstGeom>
        </p:spPr>
      </p:pic>
      <p:pic>
        <p:nvPicPr>
          <p:cNvPr id="35" name="Image 2" descr="image.png"/>
          <p:cNvPicPr>
            <a:picLocks noChangeAspect="1"/>
          </p:cNvPicPr>
          <p:nvPr/>
        </p:nvPicPr>
        <p:blipFill>
          <a:blip r:embed="rId6"/>
          <a:stretch>
            <a:fillRect/>
          </a:stretch>
        </p:blipFill>
        <p:spPr>
          <a:xfrm>
            <a:off x="7507224" y="3017520"/>
            <a:ext cx="219456" cy="219456"/>
          </a:xfrm>
          <a:prstGeom prst="rect">
            <a:avLst/>
          </a:prstGeom>
        </p:spPr>
      </p:pic>
      <p:pic>
        <p:nvPicPr>
          <p:cNvPr id="36" name="Image 3" descr="image.png"/>
          <p:cNvPicPr>
            <a:picLocks noChangeAspect="1"/>
          </p:cNvPicPr>
          <p:nvPr/>
        </p:nvPicPr>
        <p:blipFill>
          <a:blip r:embed="rId7"/>
          <a:stretch>
            <a:fillRect/>
          </a:stretch>
        </p:blipFill>
        <p:spPr>
          <a:xfrm>
            <a:off x="7507224" y="4206240"/>
            <a:ext cx="219456" cy="219456"/>
          </a:xfrm>
          <a:prstGeom prst="rect">
            <a:avLst/>
          </a:prstGeom>
        </p:spPr>
      </p:pic>
      <p:pic>
        <p:nvPicPr>
          <p:cNvPr id="37" name="Image 4" descr="image.png"/>
          <p:cNvPicPr>
            <a:picLocks noChangeAspect="1"/>
          </p:cNvPicPr>
          <p:nvPr/>
        </p:nvPicPr>
        <p:blipFill>
          <a:blip r:embed="rId8"/>
          <a:stretch>
            <a:fillRect/>
          </a:stretch>
        </p:blipFill>
        <p:spPr>
          <a:xfrm>
            <a:off x="7507224" y="5394960"/>
            <a:ext cx="219456" cy="2194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XÂY DỰNG MÔ HÌNH</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PHƯƠNG PHÁP HỒI QUY DỰ ĐOÁN</a:t>
            </a:r>
            <a:endParaRPr lang="en-US" sz="3000" dirty="0"/>
          </a:p>
        </p:txBody>
      </p:sp>
      <p:sp>
        <p:nvSpPr>
          <p:cNvPr id="5" name="Shape 2"/>
          <p:cNvSpPr/>
          <p:nvPr/>
        </p:nvSpPr>
        <p:spPr>
          <a:xfrm>
            <a:off x="548640" y="1600200"/>
            <a:ext cx="5431536" cy="1143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6" name="Text 3"/>
          <p:cNvSpPr txBox="1"/>
          <p:nvPr/>
        </p:nvSpPr>
        <p:spPr>
          <a:xfrm>
            <a:off x="822960" y="1755648"/>
            <a:ext cx="4937760" cy="274320"/>
          </a:xfrm>
          <a:prstGeom prst="rect">
            <a:avLst/>
          </a:prstGeom>
          <a:noFill/>
          <a:ln/>
        </p:spPr>
        <p:txBody>
          <a:bodyPr wrap="square" lIns="0" tIns="0" rIns="0" bIns="0" rtlCol="0" anchor="t"/>
          <a:lstStyle/>
          <a:p>
            <a:pPr marL="0" indent="0">
              <a:buNone/>
            </a:pPr>
            <a:r>
              <a:rPr lang="en-US" sz="1300" b="1" dirty="0">
                <a:solidFill>
                  <a:srgbClr val="64748B"/>
                </a:solidFill>
                <a:latin typeface="Calibri" pitchFamily="34" charset="0"/>
                <a:ea typeface="Calibri" pitchFamily="34" charset="-122"/>
                <a:cs typeface="Calibri" pitchFamily="34" charset="-120"/>
              </a:rPr>
              <a:t>CHIA DỮ LIỆU 80 / 20</a:t>
            </a:r>
            <a:endParaRPr lang="en-US" sz="1300" dirty="0"/>
          </a:p>
        </p:txBody>
      </p:sp>
      <p:sp>
        <p:nvSpPr>
          <p:cNvPr id="7" name="Text 4"/>
          <p:cNvSpPr txBox="1"/>
          <p:nvPr/>
        </p:nvSpPr>
        <p:spPr>
          <a:xfrm>
            <a:off x="822960" y="2103120"/>
            <a:ext cx="4937760" cy="457200"/>
          </a:xfrm>
          <a:prstGeom prst="rect">
            <a:avLst/>
          </a:prstGeom>
          <a:noFill/>
          <a:ln/>
        </p:spPr>
        <p:txBody>
          <a:bodyPr wrap="square" lIns="0" tIns="0" rIns="0" bIns="0" rtlCol="0" anchor="t"/>
          <a:lstStyle/>
          <a:p>
            <a:pPr marL="0" indent="0">
              <a:buNone/>
            </a:pPr>
            <a:r>
              <a:rPr lang="en-US" sz="2200" b="1" dirty="0">
                <a:solidFill>
                  <a:srgbClr val="0F172A"/>
                </a:solidFill>
                <a:latin typeface="Calibri" pitchFamily="34" charset="0"/>
                <a:ea typeface="Calibri" pitchFamily="34" charset="-122"/>
                <a:cs typeface="Calibri" pitchFamily="34" charset="-120"/>
              </a:rPr>
              <a:t>Train: 6.772  |  Test: 1.693</a:t>
            </a:r>
            <a:endParaRPr lang="en-US" sz="2200" dirty="0"/>
          </a:p>
        </p:txBody>
      </p:sp>
      <p:sp>
        <p:nvSpPr>
          <p:cNvPr id="8" name="Shape 5"/>
          <p:cNvSpPr/>
          <p:nvPr/>
        </p:nvSpPr>
        <p:spPr>
          <a:xfrm>
            <a:off x="6208776" y="1600200"/>
            <a:ext cx="5431536" cy="1143000"/>
          </a:xfrm>
          <a:prstGeom prst="roundRect">
            <a:avLst>
              <a:gd name="adj" fmla="val 8000"/>
            </a:avLst>
          </a:prstGeom>
          <a:solidFill>
            <a:srgbClr val="F8FAFC"/>
          </a:solidFill>
          <a:ln w="12700">
            <a:solidFill>
              <a:srgbClr val="E2E8F0"/>
            </a:solidFill>
            <a:prstDash val="solid"/>
          </a:ln>
        </p:spPr>
        <p:txBody>
          <a:bodyPr/>
          <a:lstStyle/>
          <a:p>
            <a:endParaRPr lang="en-US"/>
          </a:p>
        </p:txBody>
      </p:sp>
      <p:sp>
        <p:nvSpPr>
          <p:cNvPr id="9" name="Text 6"/>
          <p:cNvSpPr txBox="1"/>
          <p:nvPr/>
        </p:nvSpPr>
        <p:spPr>
          <a:xfrm>
            <a:off x="6483096" y="1755648"/>
            <a:ext cx="4937760" cy="274320"/>
          </a:xfrm>
          <a:prstGeom prst="rect">
            <a:avLst/>
          </a:prstGeom>
          <a:noFill/>
          <a:ln/>
        </p:spPr>
        <p:txBody>
          <a:bodyPr wrap="square" lIns="0" tIns="0" rIns="0" bIns="0" rtlCol="0" anchor="t"/>
          <a:lstStyle/>
          <a:p>
            <a:pPr marL="0" indent="0">
              <a:buNone/>
            </a:pPr>
            <a:r>
              <a:rPr lang="en-US" sz="1300" b="1" dirty="0">
                <a:solidFill>
                  <a:srgbClr val="64748B"/>
                </a:solidFill>
                <a:latin typeface="Calibri" pitchFamily="34" charset="0"/>
                <a:ea typeface="Calibri" pitchFamily="34" charset="-122"/>
                <a:cs typeface="Calibri" pitchFamily="34" charset="-120"/>
              </a:rPr>
              <a:t>MÃ HÓA PHÂN LOẠI</a:t>
            </a:r>
            <a:endParaRPr lang="en-US" sz="1300" dirty="0"/>
          </a:p>
        </p:txBody>
      </p:sp>
      <p:sp>
        <p:nvSpPr>
          <p:cNvPr id="10" name="Text 7"/>
          <p:cNvSpPr txBox="1"/>
          <p:nvPr/>
        </p:nvSpPr>
        <p:spPr>
          <a:xfrm>
            <a:off x="6483096" y="2103120"/>
            <a:ext cx="4937760" cy="457200"/>
          </a:xfrm>
          <a:prstGeom prst="rect">
            <a:avLst/>
          </a:prstGeom>
          <a:noFill/>
          <a:ln/>
        </p:spPr>
        <p:txBody>
          <a:bodyPr wrap="square" lIns="0" tIns="0" rIns="0" bIns="0" rtlCol="0" anchor="t"/>
          <a:lstStyle/>
          <a:p>
            <a:pPr marL="0" indent="0">
              <a:buNone/>
            </a:pPr>
            <a:r>
              <a:rPr lang="en-US" sz="2200" b="1" dirty="0">
                <a:solidFill>
                  <a:srgbClr val="0F172A"/>
                </a:solidFill>
                <a:latin typeface="Calibri" pitchFamily="34" charset="0"/>
                <a:ea typeface="Calibri" pitchFamily="34" charset="-122"/>
                <a:cs typeface="Calibri" pitchFamily="34" charset="-120"/>
              </a:rPr>
              <a:t>One-hot: Hour, Seasons, Holiday (36 cột)</a:t>
            </a:r>
            <a:endParaRPr lang="en-US" sz="2200" dirty="0"/>
          </a:p>
        </p:txBody>
      </p:sp>
      <p:sp>
        <p:nvSpPr>
          <p:cNvPr id="11" name="Shape 8"/>
          <p:cNvSpPr/>
          <p:nvPr/>
        </p:nvSpPr>
        <p:spPr>
          <a:xfrm>
            <a:off x="548640" y="2971800"/>
            <a:ext cx="3546043" cy="2148840"/>
          </a:xfrm>
          <a:prstGeom prst="roundRect">
            <a:avLst>
              <a:gd name="adj" fmla="val 4255"/>
            </a:avLst>
          </a:prstGeom>
          <a:solidFill>
            <a:srgbClr val="F8FAFC"/>
          </a:solidFill>
          <a:ln w="12700">
            <a:solidFill>
              <a:srgbClr val="E2E8F0"/>
            </a:solidFill>
            <a:prstDash val="solid"/>
          </a:ln>
        </p:spPr>
        <p:txBody>
          <a:bodyPr/>
          <a:lstStyle/>
          <a:p>
            <a:endParaRPr lang="en-US"/>
          </a:p>
        </p:txBody>
      </p:sp>
      <p:sp>
        <p:nvSpPr>
          <p:cNvPr id="12" name="Text 9"/>
          <p:cNvSpPr txBox="1"/>
          <p:nvPr/>
        </p:nvSpPr>
        <p:spPr>
          <a:xfrm>
            <a:off x="822960" y="3200400"/>
            <a:ext cx="3017520" cy="411480"/>
          </a:xfrm>
          <a:prstGeom prst="rect">
            <a:avLst/>
          </a:prstGeom>
          <a:noFill/>
          <a:ln/>
        </p:spPr>
        <p:txBody>
          <a:bodyPr wrap="square" lIns="0" tIns="0" rIns="0" bIns="0" rtlCol="0" anchor="t"/>
          <a:lstStyle/>
          <a:p>
            <a:pPr marL="0" indent="0">
              <a:buNone/>
            </a:pPr>
            <a:r>
              <a:rPr lang="en-US" sz="1800" b="1" dirty="0">
                <a:solidFill>
                  <a:srgbClr val="0284C7"/>
                </a:solidFill>
                <a:latin typeface="Calibri" pitchFamily="34" charset="0"/>
                <a:ea typeface="Calibri" pitchFamily="34" charset="-122"/>
                <a:cs typeface="Calibri" pitchFamily="34" charset="-120"/>
              </a:rPr>
              <a:t>Mô hình 1: Đơn biến</a:t>
            </a:r>
            <a:endParaRPr lang="en-US" sz="1800" dirty="0"/>
          </a:p>
        </p:txBody>
      </p:sp>
      <p:sp>
        <p:nvSpPr>
          <p:cNvPr id="13" name="Text 10"/>
          <p:cNvSpPr txBox="1"/>
          <p:nvPr/>
        </p:nvSpPr>
        <p:spPr>
          <a:xfrm>
            <a:off x="822960" y="3749040"/>
            <a:ext cx="3017520" cy="1280160"/>
          </a:xfrm>
          <a:prstGeom prst="rect">
            <a:avLst/>
          </a:prstGeom>
          <a:noFill/>
          <a:ln/>
        </p:spPr>
        <p:txBody>
          <a:bodyPr wrap="square" lIns="0" tIns="0" rIns="0" bIns="0" rtlCol="0" anchor="t"/>
          <a:lstStyle/>
          <a:p>
            <a:pPr marL="0" indent="0">
              <a:buNone/>
            </a:pPr>
            <a:r>
              <a:rPr lang="en-US" sz="1700" dirty="0">
                <a:solidFill>
                  <a:srgbClr val="475569"/>
                </a:solidFill>
                <a:latin typeface="Calibri" pitchFamily="34" charset="0"/>
                <a:ea typeface="Calibri" pitchFamily="34" charset="-122"/>
                <a:cs typeface="Calibri" pitchFamily="34" charset="-120"/>
              </a:rPr>
              <a:t>Chỉ dùng Nhiệt độ (Temperature) làm biến độc lập, đóng vai trò baseline.</a:t>
            </a:r>
            <a:endParaRPr lang="en-US" sz="1700" dirty="0"/>
          </a:p>
        </p:txBody>
      </p:sp>
      <p:sp>
        <p:nvSpPr>
          <p:cNvPr id="14" name="Shape 11"/>
          <p:cNvSpPr/>
          <p:nvPr/>
        </p:nvSpPr>
        <p:spPr>
          <a:xfrm>
            <a:off x="4323283" y="2971800"/>
            <a:ext cx="3546043" cy="2148840"/>
          </a:xfrm>
          <a:prstGeom prst="roundRect">
            <a:avLst>
              <a:gd name="adj" fmla="val 4255"/>
            </a:avLst>
          </a:prstGeom>
          <a:solidFill>
            <a:srgbClr val="F8FAFC"/>
          </a:solidFill>
          <a:ln w="12700">
            <a:solidFill>
              <a:srgbClr val="E2E8F0"/>
            </a:solidFill>
            <a:prstDash val="solid"/>
          </a:ln>
        </p:spPr>
        <p:txBody>
          <a:bodyPr/>
          <a:lstStyle/>
          <a:p>
            <a:endParaRPr lang="en-US"/>
          </a:p>
        </p:txBody>
      </p:sp>
      <p:sp>
        <p:nvSpPr>
          <p:cNvPr id="15" name="Text 12"/>
          <p:cNvSpPr txBox="1"/>
          <p:nvPr/>
        </p:nvSpPr>
        <p:spPr>
          <a:xfrm>
            <a:off x="4597603" y="3200400"/>
            <a:ext cx="3017520" cy="411480"/>
          </a:xfrm>
          <a:prstGeom prst="rect">
            <a:avLst/>
          </a:prstGeom>
          <a:noFill/>
          <a:ln/>
        </p:spPr>
        <p:txBody>
          <a:bodyPr wrap="square" lIns="0" tIns="0" rIns="0" bIns="0" rtlCol="0" anchor="t"/>
          <a:lstStyle/>
          <a:p>
            <a:pPr marL="0" indent="0">
              <a:buNone/>
            </a:pPr>
            <a:r>
              <a:rPr lang="en-US" sz="1800" b="1" dirty="0">
                <a:solidFill>
                  <a:srgbClr val="0D9488"/>
                </a:solidFill>
                <a:latin typeface="Calibri" pitchFamily="34" charset="0"/>
                <a:ea typeface="Calibri" pitchFamily="34" charset="-122"/>
                <a:cs typeface="Calibri" pitchFamily="34" charset="-120"/>
              </a:rPr>
              <a:t>Mô hình 2: Đa biến</a:t>
            </a:r>
            <a:endParaRPr lang="en-US" sz="1800" dirty="0"/>
          </a:p>
        </p:txBody>
      </p:sp>
      <p:sp>
        <p:nvSpPr>
          <p:cNvPr id="16" name="Text 13"/>
          <p:cNvSpPr txBox="1"/>
          <p:nvPr/>
        </p:nvSpPr>
        <p:spPr>
          <a:xfrm>
            <a:off x="4597603" y="3749040"/>
            <a:ext cx="3017520" cy="1280160"/>
          </a:xfrm>
          <a:prstGeom prst="rect">
            <a:avLst/>
          </a:prstGeom>
          <a:noFill/>
          <a:ln/>
        </p:spPr>
        <p:txBody>
          <a:bodyPr wrap="square" lIns="0" tIns="0" rIns="0" bIns="0" rtlCol="0" anchor="t"/>
          <a:lstStyle/>
          <a:p>
            <a:pPr marL="0" indent="0">
              <a:buNone/>
            </a:pPr>
            <a:r>
              <a:rPr lang="en-US" sz="1700" dirty="0">
                <a:solidFill>
                  <a:srgbClr val="475569"/>
                </a:solidFill>
                <a:latin typeface="Calibri" pitchFamily="34" charset="0"/>
                <a:ea typeface="Calibri" pitchFamily="34" charset="-122"/>
                <a:cs typeface="Calibri" pitchFamily="34" charset="-120"/>
              </a:rPr>
              <a:t>Toàn bộ biến thời tiết, giờ, mùa và ngày lễ sau mã hóa.</a:t>
            </a:r>
            <a:endParaRPr lang="en-US" sz="1700" dirty="0"/>
          </a:p>
        </p:txBody>
      </p:sp>
      <p:sp>
        <p:nvSpPr>
          <p:cNvPr id="17" name="Shape 14"/>
          <p:cNvSpPr/>
          <p:nvPr/>
        </p:nvSpPr>
        <p:spPr>
          <a:xfrm>
            <a:off x="8097926" y="2971800"/>
            <a:ext cx="3546043" cy="2148840"/>
          </a:xfrm>
          <a:prstGeom prst="roundRect">
            <a:avLst>
              <a:gd name="adj" fmla="val 4255"/>
            </a:avLst>
          </a:prstGeom>
          <a:solidFill>
            <a:srgbClr val="F0F9FF"/>
          </a:solidFill>
          <a:ln w="12700">
            <a:solidFill>
              <a:srgbClr val="7DD3FC"/>
            </a:solidFill>
            <a:prstDash val="solid"/>
          </a:ln>
        </p:spPr>
        <p:txBody>
          <a:bodyPr/>
          <a:lstStyle/>
          <a:p>
            <a:endParaRPr lang="en-US"/>
          </a:p>
        </p:txBody>
      </p:sp>
      <p:sp>
        <p:nvSpPr>
          <p:cNvPr id="18" name="Text 15"/>
          <p:cNvSpPr txBox="1"/>
          <p:nvPr/>
        </p:nvSpPr>
        <p:spPr>
          <a:xfrm>
            <a:off x="8372246" y="3200400"/>
            <a:ext cx="3017520" cy="411480"/>
          </a:xfrm>
          <a:prstGeom prst="rect">
            <a:avLst/>
          </a:prstGeom>
          <a:noFill/>
          <a:ln/>
        </p:spPr>
        <p:txBody>
          <a:bodyPr wrap="square" lIns="0" tIns="0" rIns="0" bIns="0" rtlCol="0" anchor="t"/>
          <a:lstStyle/>
          <a:p>
            <a:pPr marL="0" indent="0">
              <a:buNone/>
            </a:pPr>
            <a:r>
              <a:rPr lang="en-US" sz="1800" b="1" dirty="0">
                <a:solidFill>
                  <a:srgbClr val="075985"/>
                </a:solidFill>
                <a:latin typeface="Calibri" pitchFamily="34" charset="0"/>
                <a:ea typeface="Calibri" pitchFamily="34" charset="-122"/>
                <a:cs typeface="Calibri" pitchFamily="34" charset="-120"/>
              </a:rPr>
              <a:t>Mô hình 3: Ridge</a:t>
            </a:r>
            <a:endParaRPr lang="en-US" sz="1800" dirty="0"/>
          </a:p>
        </p:txBody>
      </p:sp>
      <p:sp>
        <p:nvSpPr>
          <p:cNvPr id="19" name="Text 16"/>
          <p:cNvSpPr txBox="1"/>
          <p:nvPr/>
        </p:nvSpPr>
        <p:spPr>
          <a:xfrm>
            <a:off x="8372246" y="3749040"/>
            <a:ext cx="3017520" cy="1280160"/>
          </a:xfrm>
          <a:prstGeom prst="rect">
            <a:avLst/>
          </a:prstGeom>
          <a:noFill/>
          <a:ln/>
        </p:spPr>
        <p:txBody>
          <a:bodyPr wrap="square" lIns="0" tIns="0" rIns="0" bIns="0" rtlCol="0" anchor="t"/>
          <a:lstStyle/>
          <a:p>
            <a:pPr marL="0" indent="0">
              <a:buNone/>
            </a:pPr>
            <a:r>
              <a:rPr lang="en-US" sz="1700" dirty="0">
                <a:solidFill>
                  <a:srgbClr val="475569"/>
                </a:solidFill>
                <a:latin typeface="Calibri" pitchFamily="34" charset="0"/>
                <a:ea typeface="Calibri" pitchFamily="34" charset="-122"/>
                <a:cs typeface="Calibri" pitchFamily="34" charset="-120"/>
              </a:rPr>
              <a:t>Hệ số phạt L2 (alpha ≈ 14,4 qua Grid Search) xử lý đa cộng tuyến.</a:t>
            </a:r>
            <a:endParaRPr lang="en-US" sz="1700" dirty="0"/>
          </a:p>
        </p:txBody>
      </p:sp>
      <p:sp>
        <p:nvSpPr>
          <p:cNvPr id="20" name="Shape 17"/>
          <p:cNvSpPr/>
          <p:nvPr/>
        </p:nvSpPr>
        <p:spPr>
          <a:xfrm>
            <a:off x="548640" y="5349240"/>
            <a:ext cx="11094415" cy="960120"/>
          </a:xfrm>
          <a:prstGeom prst="roundRect">
            <a:avLst>
              <a:gd name="adj" fmla="val 9524"/>
            </a:avLst>
          </a:prstGeom>
          <a:solidFill>
            <a:srgbClr val="E0F2FE"/>
          </a:solidFill>
          <a:ln w="12700">
            <a:solidFill>
              <a:srgbClr val="BAE6FD"/>
            </a:solidFill>
            <a:prstDash val="solid"/>
          </a:ln>
        </p:spPr>
        <p:txBody>
          <a:bodyPr/>
          <a:lstStyle/>
          <a:p>
            <a:endParaRPr lang="en-US"/>
          </a:p>
        </p:txBody>
      </p:sp>
      <p:pic>
        <p:nvPicPr>
          <p:cNvPr id="21" name="Image 0" descr="preencoded.png"/>
          <p:cNvPicPr>
            <a:picLocks noChangeAspect="1"/>
          </p:cNvPicPr>
          <p:nvPr/>
        </p:nvPicPr>
        <p:blipFill>
          <a:blip r:embed="rId3"/>
          <a:stretch>
            <a:fillRect/>
          </a:stretch>
        </p:blipFill>
        <p:spPr>
          <a:xfrm>
            <a:off x="868680" y="5641848"/>
            <a:ext cx="365760" cy="365760"/>
          </a:xfrm>
          <a:prstGeom prst="rect">
            <a:avLst/>
          </a:prstGeom>
        </p:spPr>
      </p:pic>
      <p:sp>
        <p:nvSpPr>
          <p:cNvPr id="22" name="Text 18"/>
          <p:cNvSpPr txBox="1"/>
          <p:nvPr/>
        </p:nvSpPr>
        <p:spPr>
          <a:xfrm>
            <a:off x="1463040" y="5349240"/>
            <a:ext cx="9875520" cy="960120"/>
          </a:xfrm>
          <a:prstGeom prst="rect">
            <a:avLst/>
          </a:prstGeom>
          <a:noFill/>
          <a:ln/>
        </p:spPr>
        <p:txBody>
          <a:bodyPr wrap="square" lIns="0" tIns="0" rIns="0" bIns="0" rtlCol="0" anchor="ctr"/>
          <a:lstStyle/>
          <a:p>
            <a:pPr marL="0" indent="0">
              <a:buNone/>
            </a:pPr>
            <a:r>
              <a:rPr lang="en-US" sz="1700" b="1" dirty="0">
                <a:solidFill>
                  <a:srgbClr val="075985"/>
                </a:solidFill>
                <a:latin typeface="Calibri" pitchFamily="34" charset="0"/>
                <a:ea typeface="Calibri" pitchFamily="34" charset="-122"/>
                <a:cs typeface="Calibri" pitchFamily="34" charset="-120"/>
              </a:rPr>
              <a:t>Đánh giá: MAE · RMSE · R² trên tập kiểm tra và 5-fold cross-validation trên tập huấn luyện</a:t>
            </a:r>
            <a:endParaRPr lang="en-US" sz="1700" dirty="0"/>
          </a:p>
        </p:txBody>
      </p:sp>
      <p:sp>
        <p:nvSpPr>
          <p:cNvPr id="23" name="Freeform 9">
            <a:extLst>
              <a:ext uri="{FF2B5EF4-FFF2-40B4-BE49-F238E27FC236}">
                <a16:creationId xmlns:a16="http://schemas.microsoft.com/office/drawing/2014/main" id="{CD0A4215-742B-6DD3-694F-8F01A030A80E}"/>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4"/>
            <a:stretch>
              <a:fillRect b="-51881"/>
            </a:stretch>
          </a:blipFill>
        </p:spPr>
        <p:txBody>
          <a:bodyPr/>
          <a:lstStyle/>
          <a:p>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ĐÁNH GIÁ HIỆU NĂNG</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KẾT QUẢ SO SÁNH 3 MÔ HÌNH HỒI QUY</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1828800"/>
        </p:xfrm>
        <a:graphic>
          <a:graphicData uri="http://schemas.openxmlformats.org/drawingml/2006/table">
            <a:tbl>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58975">
                  <a:extLst>
                    <a:ext uri="{9D8B030D-6E8A-4147-A177-3AD203B41FA5}">
                      <a16:colId xmlns:a16="http://schemas.microsoft.com/office/drawing/2014/main" val="20004"/>
                    </a:ext>
                  </a:extLst>
                </a:gridCol>
              </a:tblGrid>
              <a:tr h="45720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Mô hình</a:t>
                      </a:r>
                      <a:endParaRPr lang="en-US" sz="15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MAE (lượt/giờ)</a:t>
                      </a:r>
                      <a:endParaRPr lang="en-US" sz="15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RMSE (lượt/giờ)</a:t>
                      </a:r>
                      <a:endParaRPr lang="en-US" sz="15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R² (tập test)</a:t>
                      </a:r>
                      <a:endParaRPr lang="en-US" sz="15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CV R² (5-fold)</a:t>
                      </a:r>
                      <a:endParaRPr lang="en-US" sz="15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457200">
                <a:tc>
                  <a:txBody>
                    <a:bodyPr/>
                    <a:lstStyle/>
                    <a:p>
                      <a:pPr marL="0" indent="0">
                        <a:buNone/>
                      </a:pPr>
                      <a:r>
                        <a:rPr lang="en-US" sz="1600" b="1" dirty="0">
                          <a:solidFill>
                            <a:srgbClr val="0F172A"/>
                          </a:solidFill>
                          <a:latin typeface="Calibri" pitchFamily="34" charset="0"/>
                          <a:ea typeface="Calibri" pitchFamily="34" charset="-122"/>
                          <a:cs typeface="Calibri" pitchFamily="34" charset="-120"/>
                        </a:rPr>
                        <a:t>Hồi quy đơn (Nhiệt độ)</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475569"/>
                          </a:solidFill>
                          <a:latin typeface="Calibri" pitchFamily="34" charset="0"/>
                          <a:ea typeface="Calibri" pitchFamily="34" charset="-122"/>
                          <a:cs typeface="Calibri" pitchFamily="34" charset="-120"/>
                        </a:rPr>
                        <a:t>381,2</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475569"/>
                          </a:solidFill>
                          <a:latin typeface="Calibri" pitchFamily="34" charset="0"/>
                          <a:ea typeface="Calibri" pitchFamily="34" charset="-122"/>
                          <a:cs typeface="Calibri" pitchFamily="34" charset="-120"/>
                        </a:rPr>
                        <a:t>514,8</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475569"/>
                          </a:solidFill>
                          <a:latin typeface="Calibri" pitchFamily="34" charset="0"/>
                          <a:ea typeface="Calibri" pitchFamily="34" charset="-122"/>
                          <a:cs typeface="Calibri" pitchFamily="34" charset="-120"/>
                        </a:rPr>
                        <a:t>0,325</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475569"/>
                          </a:solidFill>
                          <a:latin typeface="Calibri" pitchFamily="34" charset="0"/>
                          <a:ea typeface="Calibri" pitchFamily="34" charset="-122"/>
                          <a:cs typeface="Calibri" pitchFamily="34" charset="-120"/>
                        </a:rPr>
                        <a:t>0,313 ± 0,009</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600" b="1" dirty="0">
                          <a:solidFill>
                            <a:srgbClr val="0F172A"/>
                          </a:solidFill>
                          <a:latin typeface="Calibri" pitchFamily="34" charset="0"/>
                          <a:ea typeface="Calibri" pitchFamily="34" charset="-122"/>
                          <a:cs typeface="Calibri" pitchFamily="34" charset="-120"/>
                        </a:rPr>
                        <a:t>Hồi quy đa biến</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600" dirty="0">
                          <a:solidFill>
                            <a:srgbClr val="475569"/>
                          </a:solidFill>
                          <a:latin typeface="Calibri" pitchFamily="34" charset="0"/>
                          <a:ea typeface="Calibri" pitchFamily="34" charset="-122"/>
                          <a:cs typeface="Calibri" pitchFamily="34" charset="-120"/>
                        </a:rPr>
                        <a:t>275,2</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600" dirty="0">
                          <a:solidFill>
                            <a:srgbClr val="475569"/>
                          </a:solidFill>
                          <a:latin typeface="Calibri" pitchFamily="34" charset="0"/>
                          <a:ea typeface="Calibri" pitchFamily="34" charset="-122"/>
                          <a:cs typeface="Calibri" pitchFamily="34" charset="-120"/>
                        </a:rPr>
                        <a:t>363,1</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600" dirty="0">
                          <a:solidFill>
                            <a:srgbClr val="475569"/>
                          </a:solidFill>
                          <a:latin typeface="Calibri" pitchFamily="34" charset="0"/>
                          <a:ea typeface="Calibri" pitchFamily="34" charset="-122"/>
                          <a:cs typeface="Calibri" pitchFamily="34" charset="-120"/>
                        </a:rPr>
                        <a:t>0,664</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600" dirty="0">
                          <a:solidFill>
                            <a:srgbClr val="475569"/>
                          </a:solidFill>
                          <a:latin typeface="Calibri" pitchFamily="34" charset="0"/>
                          <a:ea typeface="Calibri" pitchFamily="34" charset="-122"/>
                          <a:cs typeface="Calibri" pitchFamily="34" charset="-120"/>
                        </a:rPr>
                        <a:t>0,660 ± 0,011</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457200">
                <a:tc>
                  <a:txBody>
                    <a:bodyPr/>
                    <a:lstStyle/>
                    <a:p>
                      <a:pPr marL="0" indent="0">
                        <a:buNone/>
                      </a:pPr>
                      <a:r>
                        <a:rPr lang="en-US" sz="1600" b="1" dirty="0">
                          <a:solidFill>
                            <a:srgbClr val="0F172A"/>
                          </a:solidFill>
                          <a:latin typeface="Calibri" pitchFamily="34" charset="0"/>
                          <a:ea typeface="Calibri" pitchFamily="34" charset="-122"/>
                          <a:cs typeface="Calibri" pitchFamily="34" charset="-120"/>
                        </a:rPr>
                        <a:t>Hồi quy Ridge (alpha ≈ 14,4)</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0F2FE"/>
                    </a:solidFill>
                  </a:tcPr>
                </a:tc>
                <a:tc>
                  <a:txBody>
                    <a:bodyPr/>
                    <a:lstStyle/>
                    <a:p>
                      <a:pPr marL="0" indent="0">
                        <a:buNone/>
                      </a:pPr>
                      <a:r>
                        <a:rPr lang="en-US" sz="1600" b="1" dirty="0">
                          <a:solidFill>
                            <a:srgbClr val="0F172A"/>
                          </a:solidFill>
                          <a:latin typeface="Calibri" pitchFamily="34" charset="0"/>
                          <a:ea typeface="Calibri" pitchFamily="34" charset="-122"/>
                          <a:cs typeface="Calibri" pitchFamily="34" charset="-120"/>
                        </a:rPr>
                        <a:t>275,1</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0F2FE"/>
                    </a:solidFill>
                  </a:tcPr>
                </a:tc>
                <a:tc>
                  <a:txBody>
                    <a:bodyPr/>
                    <a:lstStyle/>
                    <a:p>
                      <a:pPr marL="0" indent="0">
                        <a:buNone/>
                      </a:pPr>
                      <a:r>
                        <a:rPr lang="en-US" sz="1600" b="1" dirty="0">
                          <a:solidFill>
                            <a:srgbClr val="0F172A"/>
                          </a:solidFill>
                          <a:latin typeface="Calibri" pitchFamily="34" charset="0"/>
                          <a:ea typeface="Calibri" pitchFamily="34" charset="-122"/>
                          <a:cs typeface="Calibri" pitchFamily="34" charset="-120"/>
                        </a:rPr>
                        <a:t>363,0</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0F2FE"/>
                    </a:solidFill>
                  </a:tcPr>
                </a:tc>
                <a:tc>
                  <a:txBody>
                    <a:bodyPr/>
                    <a:lstStyle/>
                    <a:p>
                      <a:pPr marL="0" indent="0">
                        <a:buNone/>
                      </a:pPr>
                      <a:r>
                        <a:rPr lang="en-US" sz="1600" b="1" dirty="0">
                          <a:solidFill>
                            <a:srgbClr val="0F172A"/>
                          </a:solidFill>
                          <a:latin typeface="Calibri" pitchFamily="34" charset="0"/>
                          <a:ea typeface="Calibri" pitchFamily="34" charset="-122"/>
                          <a:cs typeface="Calibri" pitchFamily="34" charset="-120"/>
                        </a:rPr>
                        <a:t>0,664</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0F2FE"/>
                    </a:solidFill>
                  </a:tcPr>
                </a:tc>
                <a:tc>
                  <a:txBody>
                    <a:bodyPr/>
                    <a:lstStyle/>
                    <a:p>
                      <a:pPr marL="0" indent="0">
                        <a:buNone/>
                      </a:pPr>
                      <a:r>
                        <a:rPr lang="en-US" sz="1600" b="1" dirty="0">
                          <a:solidFill>
                            <a:srgbClr val="0F172A"/>
                          </a:solidFill>
                          <a:latin typeface="Calibri" pitchFamily="34" charset="0"/>
                          <a:ea typeface="Calibri" pitchFamily="34" charset="-122"/>
                          <a:cs typeface="Calibri" pitchFamily="34" charset="-120"/>
                        </a:rPr>
                        <a:t>0,660 ± 0,011</a:t>
                      </a:r>
                      <a:endParaRPr lang="en-US" sz="16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0F2FE"/>
                    </a:solidFill>
                  </a:tcPr>
                </a:tc>
                <a:extLst>
                  <a:ext uri="{0D108BD9-81ED-4DB2-BD59-A6C34878D82A}">
                    <a16:rowId xmlns:a16="http://schemas.microsoft.com/office/drawing/2014/main" val="10003"/>
                  </a:ext>
                </a:extLst>
              </a:tr>
            </a:tbl>
          </a:graphicData>
        </a:graphic>
      </p:graphicFrame>
      <p:sp>
        <p:nvSpPr>
          <p:cNvPr id="6" name="Shape 2"/>
          <p:cNvSpPr/>
          <p:nvPr/>
        </p:nvSpPr>
        <p:spPr>
          <a:xfrm>
            <a:off x="548640" y="3657600"/>
            <a:ext cx="6766560" cy="2697480"/>
          </a:xfrm>
          <a:prstGeom prst="roundRect">
            <a:avLst>
              <a:gd name="adj" fmla="val 3390"/>
            </a:avLst>
          </a:prstGeom>
          <a:solidFill>
            <a:srgbClr val="F8FAFC"/>
          </a:solidFill>
          <a:ln w="12700">
            <a:solidFill>
              <a:srgbClr val="E2E8F0"/>
            </a:solidFill>
            <a:prstDash val="solid"/>
          </a:ln>
        </p:spPr>
        <p:txBody>
          <a:bodyPr/>
          <a:lstStyle/>
          <a:p>
            <a:endParaRPr lang="en-US"/>
          </a:p>
        </p:txBody>
      </p:sp>
      <p:pic>
        <p:nvPicPr>
          <p:cNvPr id="7" name="Image 0" descr="12_so_sanh_mo_hinh.png"/>
          <p:cNvPicPr>
            <a:picLocks noChangeAspect="1"/>
          </p:cNvPicPr>
          <p:nvPr/>
        </p:nvPicPr>
        <p:blipFill>
          <a:blip r:embed="rId3"/>
          <a:stretch>
            <a:fillRect/>
          </a:stretch>
        </p:blipFill>
        <p:spPr>
          <a:xfrm>
            <a:off x="1221295" y="3749040"/>
            <a:ext cx="5421249" cy="2194560"/>
          </a:xfrm>
          <a:prstGeom prst="rect">
            <a:avLst/>
          </a:prstGeom>
        </p:spPr>
      </p:pic>
      <p:sp>
        <p:nvSpPr>
          <p:cNvPr id="8" name="Text 3"/>
          <p:cNvSpPr txBox="1"/>
          <p:nvPr/>
        </p:nvSpPr>
        <p:spPr>
          <a:xfrm>
            <a:off x="640080" y="6007608"/>
            <a:ext cx="6583680"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Hình 10. So sánh MAE, RMSE và R² của ba mô hình</a:t>
            </a:r>
            <a:endParaRPr lang="en-US" sz="1200" dirty="0"/>
          </a:p>
        </p:txBody>
      </p:sp>
      <p:sp>
        <p:nvSpPr>
          <p:cNvPr id="9" name="Shape 4"/>
          <p:cNvSpPr/>
          <p:nvPr/>
        </p:nvSpPr>
        <p:spPr>
          <a:xfrm>
            <a:off x="7543800" y="3657600"/>
            <a:ext cx="4099255" cy="2697480"/>
          </a:xfrm>
          <a:prstGeom prst="roundRect">
            <a:avLst>
              <a:gd name="adj" fmla="val 3390"/>
            </a:avLst>
          </a:prstGeom>
          <a:solidFill>
            <a:srgbClr val="F0FDF4"/>
          </a:solidFill>
          <a:ln w="12700">
            <a:solidFill>
              <a:srgbClr val="BBF7D0"/>
            </a:solidFill>
            <a:prstDash val="solid"/>
          </a:ln>
        </p:spPr>
        <p:txBody>
          <a:bodyPr/>
          <a:lstStyle/>
          <a:p>
            <a:endParaRPr lang="en-US"/>
          </a:p>
        </p:txBody>
      </p:sp>
      <p:sp>
        <p:nvSpPr>
          <p:cNvPr id="10" name="Shape 5"/>
          <p:cNvSpPr/>
          <p:nvPr/>
        </p:nvSpPr>
        <p:spPr>
          <a:xfrm>
            <a:off x="7772400" y="3840480"/>
            <a:ext cx="420624" cy="420624"/>
          </a:xfrm>
          <a:prstGeom prst="ellipse">
            <a:avLst/>
          </a:prstGeom>
          <a:solidFill>
            <a:srgbClr val="DCFCE7"/>
          </a:solidFill>
          <a:ln w="12700">
            <a:solidFill>
              <a:srgbClr val="DCFCE7"/>
            </a:solidFill>
            <a:prstDash val="solid"/>
          </a:ln>
        </p:spPr>
        <p:txBody>
          <a:bodyPr/>
          <a:lstStyle/>
          <a:p>
            <a:endParaRPr lang="en-US"/>
          </a:p>
        </p:txBody>
      </p:sp>
      <p:pic>
        <p:nvPicPr>
          <p:cNvPr id="2" name="Image 1" descr="preencoded.png"/>
          <p:cNvPicPr>
            <a:picLocks noChangeAspect="1"/>
          </p:cNvPicPr>
          <p:nvPr/>
        </p:nvPicPr>
        <p:blipFill>
          <a:blip r:embed="rId4"/>
          <a:stretch>
            <a:fillRect/>
          </a:stretch>
        </p:blipFill>
        <p:spPr>
          <a:xfrm>
            <a:off x="7872984" y="3941064"/>
            <a:ext cx="219456" cy="219456"/>
          </a:xfrm>
          <a:prstGeom prst="rect">
            <a:avLst/>
          </a:prstGeom>
        </p:spPr>
      </p:pic>
      <p:sp>
        <p:nvSpPr>
          <p:cNvPr id="12" name="Text 6"/>
          <p:cNvSpPr txBox="1"/>
          <p:nvPr/>
        </p:nvSpPr>
        <p:spPr>
          <a:xfrm>
            <a:off x="8321040" y="3840480"/>
            <a:ext cx="310896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Nhận xét chọn mô hình</a:t>
            </a:r>
            <a:endParaRPr lang="en-US" sz="1600" dirty="0"/>
          </a:p>
        </p:txBody>
      </p:sp>
      <p:sp>
        <p:nvSpPr>
          <p:cNvPr id="13" name="Text 7"/>
          <p:cNvSpPr txBox="1"/>
          <p:nvPr/>
        </p:nvSpPr>
        <p:spPr>
          <a:xfrm>
            <a:off x="7772400" y="4434840"/>
            <a:ext cx="3611880" cy="1874520"/>
          </a:xfrm>
          <a:prstGeom prst="rect">
            <a:avLst/>
          </a:prstGeom>
          <a:noFill/>
          <a:ln/>
        </p:spPr>
        <p:txBody>
          <a:bodyPr wrap="square" lIns="0" tIns="0" rIns="0" bIns="0" rtlCol="0" anchor="t"/>
          <a:lstStyle/>
          <a:p>
            <a:pPr marL="0" indent="0">
              <a:buNone/>
            </a:pPr>
            <a:r>
              <a:rPr lang="en-US" sz="1500" dirty="0">
                <a:solidFill>
                  <a:srgbClr val="166534"/>
                </a:solidFill>
                <a:latin typeface="Calibri" pitchFamily="34" charset="0"/>
                <a:ea typeface="Calibri" pitchFamily="34" charset="-122"/>
                <a:cs typeface="Calibri" pitchFamily="34" charset="-120"/>
              </a:rPr>
              <a:t>Đa biến và Ridge vượt rõ mô hình đơn (R² 0,664 so với 0,325). Ridge nhỉnh hơn một chút về MAE/RMSE và kiểm soát đa cộng tuyến nên được chọn; chênh lệch với đa biến rất nhỏ.</a:t>
            </a:r>
            <a:endParaRPr lang="en-US" sz="1500" dirty="0"/>
          </a:p>
        </p:txBody>
      </p:sp>
      <p:sp>
        <p:nvSpPr>
          <p:cNvPr id="14" name="Freeform 9">
            <a:extLst>
              <a:ext uri="{FF2B5EF4-FFF2-40B4-BE49-F238E27FC236}">
                <a16:creationId xmlns:a16="http://schemas.microsoft.com/office/drawing/2014/main" id="{5410900E-4D5F-8DD6-AD54-76F606D1B77F}"/>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5"/>
            <a:stretch>
              <a:fillRect b="-51881"/>
            </a:stretch>
          </a:blipFill>
        </p:spPr>
        <p:txBody>
          <a:bodyPr/>
          <a:lstStyle/>
          <a:p>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CHẨN ĐOÁN MÔ HÌNH</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PHÂN TÍCH GIÁ TRỊ DỰ ĐOÁN VÀ PHẦN DƯ</a:t>
            </a:r>
            <a:endParaRPr lang="en-US" sz="3000" dirty="0"/>
          </a:p>
        </p:txBody>
      </p:sp>
      <p:sp>
        <p:nvSpPr>
          <p:cNvPr id="5" name="Shape 2"/>
          <p:cNvSpPr/>
          <p:nvPr/>
        </p:nvSpPr>
        <p:spPr>
          <a:xfrm>
            <a:off x="548640" y="1508760"/>
            <a:ext cx="5431536" cy="2697480"/>
          </a:xfrm>
          <a:prstGeom prst="roundRect">
            <a:avLst>
              <a:gd name="adj" fmla="val 3390"/>
            </a:avLst>
          </a:prstGeom>
          <a:solidFill>
            <a:srgbClr val="F8FAFC"/>
          </a:solidFill>
          <a:ln w="12700">
            <a:solidFill>
              <a:srgbClr val="E2E8F0"/>
            </a:solidFill>
            <a:prstDash val="solid"/>
          </a:ln>
        </p:spPr>
        <p:txBody>
          <a:bodyPr/>
          <a:lstStyle/>
          <a:p>
            <a:endParaRPr lang="en-US"/>
          </a:p>
        </p:txBody>
      </p:sp>
      <p:pic>
        <p:nvPicPr>
          <p:cNvPr id="6" name="Image 0" descr="10_thuc_te_vs_du_doan.png"/>
          <p:cNvPicPr>
            <a:picLocks noChangeAspect="1"/>
          </p:cNvPicPr>
          <p:nvPr/>
        </p:nvPicPr>
        <p:blipFill>
          <a:blip r:embed="rId3"/>
          <a:stretch>
            <a:fillRect/>
          </a:stretch>
        </p:blipFill>
        <p:spPr>
          <a:xfrm>
            <a:off x="658368" y="1644185"/>
            <a:ext cx="5212080" cy="2106590"/>
          </a:xfrm>
          <a:prstGeom prst="rect">
            <a:avLst/>
          </a:prstGeom>
        </p:spPr>
      </p:pic>
      <p:sp>
        <p:nvSpPr>
          <p:cNvPr id="7" name="Text 3"/>
          <p:cNvSpPr txBox="1"/>
          <p:nvPr/>
        </p:nvSpPr>
        <p:spPr>
          <a:xfrm>
            <a:off x="640080" y="3858768"/>
            <a:ext cx="5248656"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Hình 8. Giá trị thực tế và dự đoán (tập test)</a:t>
            </a:r>
            <a:endParaRPr lang="en-US" sz="1200" dirty="0"/>
          </a:p>
        </p:txBody>
      </p:sp>
      <p:sp>
        <p:nvSpPr>
          <p:cNvPr id="8" name="Shape 4"/>
          <p:cNvSpPr/>
          <p:nvPr/>
        </p:nvSpPr>
        <p:spPr>
          <a:xfrm>
            <a:off x="6208776" y="1508760"/>
            <a:ext cx="5431536" cy="2697480"/>
          </a:xfrm>
          <a:prstGeom prst="roundRect">
            <a:avLst>
              <a:gd name="adj" fmla="val 3390"/>
            </a:avLst>
          </a:prstGeom>
          <a:solidFill>
            <a:srgbClr val="F8FAFC"/>
          </a:solidFill>
          <a:ln w="12700">
            <a:solidFill>
              <a:srgbClr val="E2E8F0"/>
            </a:solidFill>
            <a:prstDash val="solid"/>
          </a:ln>
        </p:spPr>
        <p:txBody>
          <a:bodyPr/>
          <a:lstStyle/>
          <a:p>
            <a:endParaRPr lang="en-US"/>
          </a:p>
        </p:txBody>
      </p:sp>
      <p:pic>
        <p:nvPicPr>
          <p:cNvPr id="9" name="Image 1" descr="11_residual_plot.png"/>
          <p:cNvPicPr>
            <a:picLocks noChangeAspect="1"/>
          </p:cNvPicPr>
          <p:nvPr/>
        </p:nvPicPr>
        <p:blipFill>
          <a:blip r:embed="rId4"/>
          <a:stretch>
            <a:fillRect/>
          </a:stretch>
        </p:blipFill>
        <p:spPr>
          <a:xfrm>
            <a:off x="6318504" y="1640531"/>
            <a:ext cx="5212080" cy="2113898"/>
          </a:xfrm>
          <a:prstGeom prst="rect">
            <a:avLst/>
          </a:prstGeom>
        </p:spPr>
      </p:pic>
      <p:sp>
        <p:nvSpPr>
          <p:cNvPr id="10" name="Text 5"/>
          <p:cNvSpPr txBox="1"/>
          <p:nvPr/>
        </p:nvSpPr>
        <p:spPr>
          <a:xfrm>
            <a:off x="6300216" y="3858768"/>
            <a:ext cx="5248656" cy="274320"/>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Hình 9. Phần dư theo giá trị dự đoán (tập test)</a:t>
            </a:r>
            <a:endParaRPr lang="en-US" sz="1200" dirty="0"/>
          </a:p>
        </p:txBody>
      </p:sp>
      <p:sp>
        <p:nvSpPr>
          <p:cNvPr id="11" name="Shape 6"/>
          <p:cNvSpPr/>
          <p:nvPr/>
        </p:nvSpPr>
        <p:spPr>
          <a:xfrm>
            <a:off x="548640" y="4389120"/>
            <a:ext cx="5431536" cy="1965960"/>
          </a:xfrm>
          <a:prstGeom prst="roundRect">
            <a:avLst>
              <a:gd name="adj" fmla="val 4651"/>
            </a:avLst>
          </a:prstGeom>
          <a:solidFill>
            <a:srgbClr val="F8FAFC"/>
          </a:solidFill>
          <a:ln w="12700">
            <a:solidFill>
              <a:srgbClr val="E2E8F0"/>
            </a:solidFill>
            <a:prstDash val="solid"/>
          </a:ln>
        </p:spPr>
        <p:txBody>
          <a:bodyPr/>
          <a:lstStyle/>
          <a:p>
            <a:endParaRPr lang="en-US"/>
          </a:p>
        </p:txBody>
      </p:sp>
      <p:sp>
        <p:nvSpPr>
          <p:cNvPr id="12" name="Text 7"/>
          <p:cNvSpPr txBox="1"/>
          <p:nvPr/>
        </p:nvSpPr>
        <p:spPr>
          <a:xfrm>
            <a:off x="822960" y="4526280"/>
            <a:ext cx="4937760" cy="365760"/>
          </a:xfrm>
          <a:prstGeom prst="rect">
            <a:avLst/>
          </a:prstGeom>
          <a:noFill/>
          <a:ln/>
        </p:spPr>
        <p:txBody>
          <a:bodyPr wrap="square" lIns="0" tIns="0" rIns="0" bIns="0" rtlCol="0" anchor="t"/>
          <a:lstStyle/>
          <a:p>
            <a:pPr marL="0" indent="0">
              <a:buNone/>
            </a:pPr>
            <a:r>
              <a:rPr lang="en-US" sz="1800" b="1" dirty="0">
                <a:solidFill>
                  <a:srgbClr val="0F172A"/>
                </a:solidFill>
                <a:latin typeface="Calibri" pitchFamily="34" charset="0"/>
                <a:ea typeface="Calibri" pitchFamily="34" charset="-122"/>
                <a:cs typeface="Calibri" pitchFamily="34" charset="-120"/>
              </a:rPr>
              <a:t>Thực tế và dự đoán</a:t>
            </a:r>
            <a:endParaRPr lang="en-US" sz="1800" dirty="0"/>
          </a:p>
        </p:txBody>
      </p:sp>
      <p:sp>
        <p:nvSpPr>
          <p:cNvPr id="13" name="Text 8"/>
          <p:cNvSpPr txBox="1"/>
          <p:nvPr/>
        </p:nvSpPr>
        <p:spPr>
          <a:xfrm>
            <a:off x="822960" y="4983480"/>
            <a:ext cx="4937760" cy="1325880"/>
          </a:xfrm>
          <a:prstGeom prst="rect">
            <a:avLst/>
          </a:prstGeom>
          <a:noFill/>
          <a:ln/>
        </p:spPr>
        <p:txBody>
          <a:bodyPr wrap="square" lIns="0" tIns="0" rIns="0" bIns="0" rtlCol="0" anchor="t"/>
          <a:lstStyle/>
          <a:p>
            <a:pPr marL="0" indent="0">
              <a:spcAft>
                <a:spcPts val="600"/>
              </a:spcAft>
              <a:buNone/>
            </a:pPr>
            <a:r>
              <a:rPr lang="en-US" sz="1600" dirty="0">
                <a:solidFill>
                  <a:srgbClr val="475569"/>
                </a:solidFill>
                <a:latin typeface="Calibri" pitchFamily="34" charset="0"/>
                <a:ea typeface="Calibri" pitchFamily="34" charset="-122"/>
                <a:cs typeface="Calibri" pitchFamily="34" charset="-120"/>
              </a:rPr>
              <a:t>Mô hình đơn: các điểm nằm ngang, không phân biệt được giờ cao và thấp.</a:t>
            </a:r>
            <a:endParaRPr lang="en-US" sz="1600" dirty="0"/>
          </a:p>
          <a:p>
            <a:pPr marL="0" indent="0">
              <a:spcAft>
                <a:spcPts val="600"/>
              </a:spcAft>
              <a:buNone/>
            </a:pPr>
            <a:r>
              <a:rPr lang="en-US" sz="1600" dirty="0">
                <a:solidFill>
                  <a:srgbClr val="475569"/>
                </a:solidFill>
                <a:latin typeface="Calibri" pitchFamily="34" charset="0"/>
                <a:ea typeface="Calibri" pitchFamily="34" charset="-122"/>
                <a:cs typeface="Calibri" pitchFamily="34" charset="-120"/>
              </a:rPr>
              <a:t>Đa biến và Ridge: bám sát đường chéo.</a:t>
            </a:r>
            <a:endParaRPr lang="en-US" sz="1600" dirty="0"/>
          </a:p>
        </p:txBody>
      </p:sp>
      <p:sp>
        <p:nvSpPr>
          <p:cNvPr id="14" name="Shape 9"/>
          <p:cNvSpPr/>
          <p:nvPr/>
        </p:nvSpPr>
        <p:spPr>
          <a:xfrm>
            <a:off x="6208776" y="4389120"/>
            <a:ext cx="5431536" cy="1965960"/>
          </a:xfrm>
          <a:prstGeom prst="roundRect">
            <a:avLst>
              <a:gd name="adj" fmla="val 4651"/>
            </a:avLst>
          </a:prstGeom>
          <a:solidFill>
            <a:srgbClr val="FFF1F2"/>
          </a:solidFill>
          <a:ln w="12700">
            <a:solidFill>
              <a:srgbClr val="FECDD3"/>
            </a:solidFill>
            <a:prstDash val="solid"/>
          </a:ln>
        </p:spPr>
        <p:txBody>
          <a:bodyPr/>
          <a:lstStyle/>
          <a:p>
            <a:endParaRPr lang="en-US"/>
          </a:p>
        </p:txBody>
      </p:sp>
      <p:sp>
        <p:nvSpPr>
          <p:cNvPr id="15" name="Shape 10"/>
          <p:cNvSpPr/>
          <p:nvPr/>
        </p:nvSpPr>
        <p:spPr>
          <a:xfrm>
            <a:off x="6483096" y="4498848"/>
            <a:ext cx="420624" cy="420624"/>
          </a:xfrm>
          <a:prstGeom prst="ellipse">
            <a:avLst/>
          </a:prstGeom>
          <a:solidFill>
            <a:srgbClr val="FFE4E6"/>
          </a:solidFill>
          <a:ln w="12700">
            <a:solidFill>
              <a:srgbClr val="FFE4E6"/>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583680" y="4599432"/>
            <a:ext cx="219456" cy="219456"/>
          </a:xfrm>
          <a:prstGeom prst="rect">
            <a:avLst/>
          </a:prstGeom>
        </p:spPr>
      </p:pic>
      <p:sp>
        <p:nvSpPr>
          <p:cNvPr id="17" name="Text 11"/>
          <p:cNvSpPr txBox="1"/>
          <p:nvPr/>
        </p:nvSpPr>
        <p:spPr>
          <a:xfrm>
            <a:off x="7031736" y="4498848"/>
            <a:ext cx="43891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Hạn chế mô hình tuyến tính</a:t>
            </a:r>
            <a:endParaRPr lang="en-US" sz="1600" dirty="0"/>
          </a:p>
        </p:txBody>
      </p:sp>
      <p:sp>
        <p:nvSpPr>
          <p:cNvPr id="18" name="Text 12"/>
          <p:cNvSpPr txBox="1"/>
          <p:nvPr/>
        </p:nvSpPr>
        <p:spPr>
          <a:xfrm>
            <a:off x="6483096" y="5029200"/>
            <a:ext cx="4937760" cy="1280160"/>
          </a:xfrm>
          <a:prstGeom prst="rect">
            <a:avLst/>
          </a:prstGeom>
          <a:noFill/>
          <a:ln/>
        </p:spPr>
        <p:txBody>
          <a:bodyPr wrap="square" lIns="0" tIns="0" rIns="0" bIns="0" rtlCol="0" anchor="t"/>
          <a:lstStyle/>
          <a:p>
            <a:pPr marL="0" indent="0">
              <a:spcAft>
                <a:spcPts val="400"/>
              </a:spcAft>
              <a:buNone/>
            </a:pPr>
            <a:r>
              <a:rPr lang="en-US" sz="1500" dirty="0">
                <a:solidFill>
                  <a:srgbClr val="9F1239"/>
                </a:solidFill>
                <a:latin typeface="Calibri" pitchFamily="34" charset="0"/>
                <a:ea typeface="Calibri" pitchFamily="34" charset="-122"/>
                <a:cs typeface="Calibri" pitchFamily="34" charset="-120"/>
              </a:rPr>
              <a:t>Dự đoán thấp ở nhu cầu rất cao (&gt; 2.000 lượt/giờ).</a:t>
            </a:r>
            <a:endParaRPr lang="en-US" sz="1500" dirty="0"/>
          </a:p>
          <a:p>
            <a:pPr marL="0" indent="0">
              <a:spcAft>
                <a:spcPts val="400"/>
              </a:spcAft>
              <a:buNone/>
            </a:pPr>
            <a:r>
              <a:rPr lang="en-US" sz="1500" dirty="0">
                <a:solidFill>
                  <a:srgbClr val="9F1239"/>
                </a:solidFill>
                <a:latin typeface="Calibri" pitchFamily="34" charset="0"/>
                <a:ea typeface="Calibri" pitchFamily="34" charset="-122"/>
                <a:cs typeface="Calibri" pitchFamily="34" charset="-120"/>
              </a:rPr>
              <a:t>Có giá trị âm ở vùng nhu cầu thấp.</a:t>
            </a:r>
            <a:endParaRPr lang="en-US" sz="1500" dirty="0"/>
          </a:p>
          <a:p>
            <a:pPr marL="0" indent="0">
              <a:spcAft>
                <a:spcPts val="400"/>
              </a:spcAft>
              <a:buNone/>
            </a:pPr>
            <a:r>
              <a:rPr lang="en-US" sz="1500" dirty="0">
                <a:solidFill>
                  <a:srgbClr val="9F1239"/>
                </a:solidFill>
                <a:latin typeface="Calibri" pitchFamily="34" charset="0"/>
                <a:ea typeface="Calibri" pitchFamily="34" charset="-122"/>
                <a:cs typeface="Calibri" pitchFamily="34" charset="-120"/>
              </a:rPr>
              <a:t>Phần dư hình phễu: sai số tăng theo giá trị dự đoán.</a:t>
            </a:r>
            <a:endParaRPr lang="en-US" sz="1500" dirty="0"/>
          </a:p>
        </p:txBody>
      </p:sp>
      <p:sp>
        <p:nvSpPr>
          <p:cNvPr id="19" name="Freeform 9">
            <a:extLst>
              <a:ext uri="{FF2B5EF4-FFF2-40B4-BE49-F238E27FC236}">
                <a16:creationId xmlns:a16="http://schemas.microsoft.com/office/drawing/2014/main" id="{CB3F22A0-78D5-3F74-C465-9404DC9074A8}"/>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6"/>
            <a:stretch>
              <a:fillRect b="-51881"/>
            </a:stretch>
          </a:blipFill>
        </p:spPr>
        <p:txBody>
          <a:bodyPr/>
          <a:lstStyle/>
          <a:p>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TỔNG KẾT NGHIÊN CỨU</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KẾT LUẬN VÀ HẠN CHẾ CỦA ĐỒ ÁN</a:t>
            </a:r>
            <a:endParaRPr lang="en-US" sz="3000" dirty="0"/>
          </a:p>
        </p:txBody>
      </p:sp>
      <p:sp>
        <p:nvSpPr>
          <p:cNvPr id="5" name="Shape 2"/>
          <p:cNvSpPr/>
          <p:nvPr/>
        </p:nvSpPr>
        <p:spPr>
          <a:xfrm>
            <a:off x="548640" y="1600200"/>
            <a:ext cx="3546043" cy="1280160"/>
          </a:xfrm>
          <a:prstGeom prst="roundRect">
            <a:avLst>
              <a:gd name="adj" fmla="val 7143"/>
            </a:avLst>
          </a:prstGeom>
          <a:solidFill>
            <a:srgbClr val="E0F2FE"/>
          </a:solidFill>
          <a:ln w="12700">
            <a:solidFill>
              <a:srgbClr val="BAE6FD"/>
            </a:solidFill>
            <a:prstDash val="solid"/>
          </a:ln>
        </p:spPr>
        <p:txBody>
          <a:bodyPr/>
          <a:lstStyle/>
          <a:p>
            <a:endParaRPr lang="en-US"/>
          </a:p>
        </p:txBody>
      </p:sp>
      <p:sp>
        <p:nvSpPr>
          <p:cNvPr id="6" name="Text 3"/>
          <p:cNvSpPr txBox="1"/>
          <p:nvPr/>
        </p:nvSpPr>
        <p:spPr>
          <a:xfrm>
            <a:off x="548640" y="1737360"/>
            <a:ext cx="3546043" cy="640080"/>
          </a:xfrm>
          <a:prstGeom prst="rect">
            <a:avLst/>
          </a:prstGeom>
          <a:noFill/>
          <a:ln/>
        </p:spPr>
        <p:txBody>
          <a:bodyPr wrap="square" lIns="0" tIns="0" rIns="0" bIns="0" rtlCol="0" anchor="ctr"/>
          <a:lstStyle/>
          <a:p>
            <a:pPr marL="0" indent="0" algn="ctr">
              <a:buNone/>
            </a:pPr>
            <a:r>
              <a:rPr lang="en-US" sz="3400" b="1" dirty="0">
                <a:solidFill>
                  <a:srgbClr val="0284C7"/>
                </a:solidFill>
                <a:latin typeface="Courier New" pitchFamily="34" charset="0"/>
                <a:ea typeface="Courier New" pitchFamily="34" charset="-122"/>
                <a:cs typeface="Courier New" pitchFamily="34" charset="-120"/>
              </a:rPr>
              <a:t>R² = 0,664</a:t>
            </a:r>
            <a:endParaRPr lang="en-US" sz="3400" dirty="0"/>
          </a:p>
        </p:txBody>
      </p:sp>
      <p:sp>
        <p:nvSpPr>
          <p:cNvPr id="7" name="Text 4"/>
          <p:cNvSpPr txBox="1"/>
          <p:nvPr/>
        </p:nvSpPr>
        <p:spPr>
          <a:xfrm>
            <a:off x="548640" y="2423160"/>
            <a:ext cx="3546043" cy="320040"/>
          </a:xfrm>
          <a:prstGeom prst="rect">
            <a:avLst/>
          </a:prstGeom>
          <a:noFill/>
          <a:ln/>
        </p:spPr>
        <p:txBody>
          <a:bodyPr wrap="square" lIns="0" tIns="0" rIns="0" bIns="0" rtlCol="0" anchor="t"/>
          <a:lstStyle/>
          <a:p>
            <a:pPr marL="0" indent="0" algn="ctr">
              <a:buNone/>
            </a:pPr>
            <a:r>
              <a:rPr lang="en-US" sz="1400" dirty="0">
                <a:solidFill>
                  <a:srgbClr val="075985"/>
                </a:solidFill>
                <a:latin typeface="Calibri" pitchFamily="34" charset="0"/>
                <a:ea typeface="Calibri" pitchFamily="34" charset="-122"/>
                <a:cs typeface="Calibri" pitchFamily="34" charset="-120"/>
              </a:rPr>
              <a:t>Mô hình Ridge, tập kiểm tra</a:t>
            </a:r>
            <a:endParaRPr lang="en-US" sz="1400" dirty="0"/>
          </a:p>
        </p:txBody>
      </p:sp>
      <p:sp>
        <p:nvSpPr>
          <p:cNvPr id="8" name="Shape 5"/>
          <p:cNvSpPr/>
          <p:nvPr/>
        </p:nvSpPr>
        <p:spPr>
          <a:xfrm>
            <a:off x="4323283" y="1600200"/>
            <a:ext cx="3546043" cy="1280160"/>
          </a:xfrm>
          <a:prstGeom prst="roundRect">
            <a:avLst>
              <a:gd name="adj" fmla="val 7143"/>
            </a:avLst>
          </a:prstGeom>
          <a:solidFill>
            <a:srgbClr val="E0F2FE"/>
          </a:solidFill>
          <a:ln w="12700">
            <a:solidFill>
              <a:srgbClr val="BAE6FD"/>
            </a:solidFill>
            <a:prstDash val="solid"/>
          </a:ln>
        </p:spPr>
        <p:txBody>
          <a:bodyPr/>
          <a:lstStyle/>
          <a:p>
            <a:endParaRPr lang="en-US"/>
          </a:p>
        </p:txBody>
      </p:sp>
      <p:sp>
        <p:nvSpPr>
          <p:cNvPr id="9" name="Text 6"/>
          <p:cNvSpPr txBox="1"/>
          <p:nvPr/>
        </p:nvSpPr>
        <p:spPr>
          <a:xfrm>
            <a:off x="4323283" y="1737360"/>
            <a:ext cx="3546043" cy="640080"/>
          </a:xfrm>
          <a:prstGeom prst="rect">
            <a:avLst/>
          </a:prstGeom>
          <a:noFill/>
          <a:ln/>
        </p:spPr>
        <p:txBody>
          <a:bodyPr wrap="square" lIns="0" tIns="0" rIns="0" bIns="0" rtlCol="0" anchor="ctr"/>
          <a:lstStyle/>
          <a:p>
            <a:pPr marL="0" indent="0" algn="ctr">
              <a:buNone/>
            </a:pPr>
            <a:r>
              <a:rPr lang="en-US" sz="3400" b="1" dirty="0">
                <a:solidFill>
                  <a:srgbClr val="0284C7"/>
                </a:solidFill>
                <a:latin typeface="Courier New" pitchFamily="34" charset="0"/>
                <a:ea typeface="Courier New" pitchFamily="34" charset="-122"/>
                <a:cs typeface="Courier New" pitchFamily="34" charset="-120"/>
              </a:rPr>
              <a:t>MAE ≈ 275</a:t>
            </a:r>
            <a:endParaRPr lang="en-US" sz="3400" dirty="0"/>
          </a:p>
        </p:txBody>
      </p:sp>
      <p:sp>
        <p:nvSpPr>
          <p:cNvPr id="10" name="Text 7"/>
          <p:cNvSpPr txBox="1"/>
          <p:nvPr/>
        </p:nvSpPr>
        <p:spPr>
          <a:xfrm>
            <a:off x="4323283" y="2423160"/>
            <a:ext cx="3546043" cy="320040"/>
          </a:xfrm>
          <a:prstGeom prst="rect">
            <a:avLst/>
          </a:prstGeom>
          <a:noFill/>
          <a:ln/>
        </p:spPr>
        <p:txBody>
          <a:bodyPr wrap="square" lIns="0" tIns="0" rIns="0" bIns="0" rtlCol="0" anchor="t"/>
          <a:lstStyle/>
          <a:p>
            <a:pPr marL="0" indent="0" algn="ctr">
              <a:buNone/>
            </a:pPr>
            <a:r>
              <a:rPr lang="en-US" sz="1400" dirty="0">
                <a:solidFill>
                  <a:srgbClr val="075985"/>
                </a:solidFill>
                <a:latin typeface="Calibri" pitchFamily="34" charset="0"/>
                <a:ea typeface="Calibri" pitchFamily="34" charset="-122"/>
                <a:cs typeface="Calibri" pitchFamily="34" charset="-120"/>
              </a:rPr>
              <a:t>lượt thuê/giờ</a:t>
            </a:r>
            <a:endParaRPr lang="en-US" sz="1400" dirty="0"/>
          </a:p>
        </p:txBody>
      </p:sp>
      <p:sp>
        <p:nvSpPr>
          <p:cNvPr id="11" name="Shape 8"/>
          <p:cNvSpPr/>
          <p:nvPr/>
        </p:nvSpPr>
        <p:spPr>
          <a:xfrm>
            <a:off x="8097926" y="1600200"/>
            <a:ext cx="3546043" cy="1280160"/>
          </a:xfrm>
          <a:prstGeom prst="roundRect">
            <a:avLst>
              <a:gd name="adj" fmla="val 7143"/>
            </a:avLst>
          </a:prstGeom>
          <a:solidFill>
            <a:srgbClr val="E0F2FE"/>
          </a:solidFill>
          <a:ln w="12700">
            <a:solidFill>
              <a:srgbClr val="BAE6FD"/>
            </a:solidFill>
            <a:prstDash val="solid"/>
          </a:ln>
        </p:spPr>
        <p:txBody>
          <a:bodyPr/>
          <a:lstStyle/>
          <a:p>
            <a:endParaRPr lang="en-US"/>
          </a:p>
        </p:txBody>
      </p:sp>
      <p:sp>
        <p:nvSpPr>
          <p:cNvPr id="12" name="Text 9"/>
          <p:cNvSpPr txBox="1"/>
          <p:nvPr/>
        </p:nvSpPr>
        <p:spPr>
          <a:xfrm>
            <a:off x="8097926" y="1737360"/>
            <a:ext cx="3546043" cy="640080"/>
          </a:xfrm>
          <a:prstGeom prst="rect">
            <a:avLst/>
          </a:prstGeom>
          <a:noFill/>
          <a:ln/>
        </p:spPr>
        <p:txBody>
          <a:bodyPr wrap="square" lIns="0" tIns="0" rIns="0" bIns="0" rtlCol="0" anchor="ctr"/>
          <a:lstStyle/>
          <a:p>
            <a:pPr marL="0" indent="0" algn="ctr">
              <a:buNone/>
            </a:pPr>
            <a:r>
              <a:rPr lang="en-US" sz="3400" b="1" dirty="0">
                <a:solidFill>
                  <a:srgbClr val="0284C7"/>
                </a:solidFill>
                <a:latin typeface="Courier New" pitchFamily="34" charset="0"/>
                <a:ea typeface="Courier New" pitchFamily="34" charset="-122"/>
                <a:cs typeface="Courier New" pitchFamily="34" charset="-120"/>
              </a:rPr>
              <a:t>RMSE ≈ 363</a:t>
            </a:r>
            <a:endParaRPr lang="en-US" sz="3400" dirty="0"/>
          </a:p>
        </p:txBody>
      </p:sp>
      <p:sp>
        <p:nvSpPr>
          <p:cNvPr id="13" name="Text 10"/>
          <p:cNvSpPr txBox="1"/>
          <p:nvPr/>
        </p:nvSpPr>
        <p:spPr>
          <a:xfrm>
            <a:off x="8097926" y="2423160"/>
            <a:ext cx="3546043" cy="320040"/>
          </a:xfrm>
          <a:prstGeom prst="rect">
            <a:avLst/>
          </a:prstGeom>
          <a:noFill/>
          <a:ln/>
        </p:spPr>
        <p:txBody>
          <a:bodyPr wrap="square" lIns="0" tIns="0" rIns="0" bIns="0" rtlCol="0" anchor="t"/>
          <a:lstStyle/>
          <a:p>
            <a:pPr marL="0" indent="0" algn="ctr">
              <a:buNone/>
            </a:pPr>
            <a:r>
              <a:rPr lang="en-US" sz="1400" dirty="0">
                <a:solidFill>
                  <a:srgbClr val="075985"/>
                </a:solidFill>
                <a:latin typeface="Calibri" pitchFamily="34" charset="0"/>
                <a:ea typeface="Calibri" pitchFamily="34" charset="-122"/>
                <a:cs typeface="Calibri" pitchFamily="34" charset="-120"/>
              </a:rPr>
              <a:t>lượt thuê/giờ</a:t>
            </a:r>
            <a:endParaRPr lang="en-US" sz="1400" dirty="0"/>
          </a:p>
        </p:txBody>
      </p:sp>
      <p:sp>
        <p:nvSpPr>
          <p:cNvPr id="14" name="Shape 11"/>
          <p:cNvSpPr/>
          <p:nvPr/>
        </p:nvSpPr>
        <p:spPr>
          <a:xfrm>
            <a:off x="548640" y="3108960"/>
            <a:ext cx="5431536" cy="3246120"/>
          </a:xfrm>
          <a:prstGeom prst="roundRect">
            <a:avLst>
              <a:gd name="adj" fmla="val 2817"/>
            </a:avLst>
          </a:prstGeom>
          <a:solidFill>
            <a:srgbClr val="F8FAFC"/>
          </a:solidFill>
          <a:ln w="12700">
            <a:solidFill>
              <a:srgbClr val="E2E8F0"/>
            </a:solidFill>
            <a:prstDash val="solid"/>
          </a:ln>
        </p:spPr>
        <p:txBody>
          <a:bodyPr/>
          <a:lstStyle/>
          <a:p>
            <a:endParaRPr lang="en-US"/>
          </a:p>
        </p:txBody>
      </p:sp>
      <p:sp>
        <p:nvSpPr>
          <p:cNvPr id="15" name="Shape 12"/>
          <p:cNvSpPr/>
          <p:nvPr/>
        </p:nvSpPr>
        <p:spPr>
          <a:xfrm>
            <a:off x="822960" y="3337560"/>
            <a:ext cx="420624" cy="420624"/>
          </a:xfrm>
          <a:prstGeom prst="ellipse">
            <a:avLst/>
          </a:prstGeom>
          <a:solidFill>
            <a:srgbClr val="DCFCE7"/>
          </a:solidFill>
          <a:ln w="12700">
            <a:solidFill>
              <a:srgbClr val="DCFCE7"/>
            </a:solidFill>
            <a:prstDash val="solid"/>
          </a:ln>
        </p:spPr>
        <p:txBody>
          <a:bodyPr/>
          <a:lstStyle/>
          <a:p>
            <a:endParaRPr lang="en-US"/>
          </a:p>
        </p:txBody>
      </p:sp>
      <p:pic>
        <p:nvPicPr>
          <p:cNvPr id="16" name="Image 0" descr="preencoded.png"/>
          <p:cNvPicPr>
            <a:picLocks noChangeAspect="1"/>
          </p:cNvPicPr>
          <p:nvPr/>
        </p:nvPicPr>
        <p:blipFill>
          <a:blip r:embed="rId3"/>
          <a:stretch>
            <a:fillRect/>
          </a:stretch>
        </p:blipFill>
        <p:spPr>
          <a:xfrm>
            <a:off x="923544" y="3438144"/>
            <a:ext cx="219456" cy="219456"/>
          </a:xfrm>
          <a:prstGeom prst="rect">
            <a:avLst/>
          </a:prstGeom>
        </p:spPr>
      </p:pic>
      <p:sp>
        <p:nvSpPr>
          <p:cNvPr id="17" name="Text 13"/>
          <p:cNvSpPr txBox="1"/>
          <p:nvPr/>
        </p:nvSpPr>
        <p:spPr>
          <a:xfrm>
            <a:off x="1371600" y="3337560"/>
            <a:ext cx="43891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Kết luận chính</a:t>
            </a:r>
            <a:endParaRPr lang="en-US" sz="1600" dirty="0"/>
          </a:p>
        </p:txBody>
      </p:sp>
      <p:sp>
        <p:nvSpPr>
          <p:cNvPr id="18" name="Text 14"/>
          <p:cNvSpPr txBox="1"/>
          <p:nvPr/>
        </p:nvSpPr>
        <p:spPr>
          <a:xfrm>
            <a:off x="822960" y="3931920"/>
            <a:ext cx="4937760" cy="2286000"/>
          </a:xfrm>
          <a:prstGeom prst="rect">
            <a:avLst/>
          </a:prstGeom>
          <a:noFill/>
          <a:ln/>
        </p:spPr>
        <p:txBody>
          <a:bodyPr wrap="square" lIns="0" tIns="0" rIns="0" bIns="0" rtlCol="0" anchor="t"/>
          <a:lstStyle/>
          <a:p>
            <a:pPr marL="0" indent="0">
              <a:spcAft>
                <a:spcPts val="1000"/>
              </a:spcAft>
              <a:buNone/>
            </a:pPr>
            <a:r>
              <a:rPr lang="en-US" sz="1800" dirty="0">
                <a:solidFill>
                  <a:srgbClr val="475569"/>
                </a:solidFill>
                <a:latin typeface="Calibri" pitchFamily="34" charset="0"/>
                <a:ea typeface="Calibri" pitchFamily="34" charset="-122"/>
                <a:cs typeface="Calibri" pitchFamily="34" charset="-120"/>
              </a:rPr>
              <a:t>Nhu cầu đạt đỉnh vào giờ đi làm (8h, 18h) và mùa Hạ.</a:t>
            </a:r>
            <a:endParaRPr lang="en-US" sz="1800" dirty="0"/>
          </a:p>
          <a:p>
            <a:pPr marL="0" indent="0">
              <a:spcAft>
                <a:spcPts val="1000"/>
              </a:spcAft>
              <a:buNone/>
            </a:pPr>
            <a:r>
              <a:rPr lang="en-US" sz="1800" dirty="0">
                <a:solidFill>
                  <a:srgbClr val="475569"/>
                </a:solidFill>
                <a:latin typeface="Calibri" pitchFamily="34" charset="0"/>
                <a:ea typeface="Calibri" pitchFamily="34" charset="-122"/>
                <a:cs typeface="Calibri" pitchFamily="34" charset="-120"/>
              </a:rPr>
              <a:t>Nhiệt độ tối ưu khoảng 25 °C; mưa làm sụt giảm nhu cầu mạnh.</a:t>
            </a:r>
            <a:endParaRPr lang="en-US" sz="1800" dirty="0"/>
          </a:p>
          <a:p>
            <a:pPr marL="0" indent="0">
              <a:spcAft>
                <a:spcPts val="1000"/>
              </a:spcAft>
              <a:buNone/>
            </a:pPr>
            <a:r>
              <a:rPr lang="en-US" sz="1800" dirty="0">
                <a:solidFill>
                  <a:srgbClr val="475569"/>
                </a:solidFill>
                <a:latin typeface="Calibri" pitchFamily="34" charset="0"/>
                <a:ea typeface="Calibri" pitchFamily="34" charset="-122"/>
                <a:cs typeface="Calibri" pitchFamily="34" charset="-120"/>
              </a:rPr>
              <a:t>Mô hình Ridge giải thích 66,4% biến thiên của số lượt thuê.</a:t>
            </a:r>
            <a:endParaRPr lang="en-US" sz="1800" dirty="0"/>
          </a:p>
        </p:txBody>
      </p:sp>
      <p:sp>
        <p:nvSpPr>
          <p:cNvPr id="19" name="Shape 15"/>
          <p:cNvSpPr/>
          <p:nvPr/>
        </p:nvSpPr>
        <p:spPr>
          <a:xfrm>
            <a:off x="6208776" y="3108960"/>
            <a:ext cx="5431536" cy="3246120"/>
          </a:xfrm>
          <a:prstGeom prst="roundRect">
            <a:avLst>
              <a:gd name="adj" fmla="val 2817"/>
            </a:avLst>
          </a:prstGeom>
          <a:solidFill>
            <a:srgbClr val="FFF1F2"/>
          </a:solidFill>
          <a:ln w="12700">
            <a:solidFill>
              <a:srgbClr val="FECDD3"/>
            </a:solidFill>
            <a:prstDash val="solid"/>
          </a:ln>
        </p:spPr>
        <p:txBody>
          <a:bodyPr/>
          <a:lstStyle/>
          <a:p>
            <a:endParaRPr lang="en-US"/>
          </a:p>
        </p:txBody>
      </p:sp>
      <p:sp>
        <p:nvSpPr>
          <p:cNvPr id="20" name="Shape 16"/>
          <p:cNvSpPr/>
          <p:nvPr/>
        </p:nvSpPr>
        <p:spPr>
          <a:xfrm>
            <a:off x="6483096" y="3337560"/>
            <a:ext cx="420624" cy="420624"/>
          </a:xfrm>
          <a:prstGeom prst="ellipse">
            <a:avLst/>
          </a:prstGeom>
          <a:solidFill>
            <a:srgbClr val="FFE4E6"/>
          </a:solidFill>
          <a:ln w="12700">
            <a:solidFill>
              <a:srgbClr val="FFE4E6"/>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6583680" y="3438144"/>
            <a:ext cx="219456" cy="219456"/>
          </a:xfrm>
          <a:prstGeom prst="rect">
            <a:avLst/>
          </a:prstGeom>
        </p:spPr>
      </p:pic>
      <p:sp>
        <p:nvSpPr>
          <p:cNvPr id="22" name="Text 17"/>
          <p:cNvSpPr txBox="1"/>
          <p:nvPr/>
        </p:nvSpPr>
        <p:spPr>
          <a:xfrm>
            <a:off x="7031736" y="3337560"/>
            <a:ext cx="4389120" cy="420624"/>
          </a:xfrm>
          <a:prstGeom prst="rect">
            <a:avLst/>
          </a:prstGeom>
          <a:noFill/>
          <a:ln/>
        </p:spPr>
        <p:txBody>
          <a:bodyPr wrap="square" lIns="0" tIns="0" rIns="0" bIns="0"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Hạn chế tồn tại</a:t>
            </a:r>
            <a:endParaRPr lang="en-US" sz="1600" dirty="0"/>
          </a:p>
        </p:txBody>
      </p:sp>
      <p:sp>
        <p:nvSpPr>
          <p:cNvPr id="23" name="Text 18"/>
          <p:cNvSpPr txBox="1"/>
          <p:nvPr/>
        </p:nvSpPr>
        <p:spPr>
          <a:xfrm>
            <a:off x="6483096" y="3931920"/>
            <a:ext cx="4937760" cy="2286000"/>
          </a:xfrm>
          <a:prstGeom prst="rect">
            <a:avLst/>
          </a:prstGeom>
          <a:noFill/>
          <a:ln/>
        </p:spPr>
        <p:txBody>
          <a:bodyPr wrap="square" lIns="0" tIns="0" rIns="0" bIns="0" rtlCol="0" anchor="t"/>
          <a:lstStyle/>
          <a:p>
            <a:pPr marL="0" indent="0">
              <a:spcAft>
                <a:spcPts val="1000"/>
              </a:spcAft>
              <a:buNone/>
            </a:pPr>
            <a:r>
              <a:rPr lang="en-US" sz="1800" dirty="0">
                <a:solidFill>
                  <a:srgbClr val="9F1239"/>
                </a:solidFill>
                <a:latin typeface="Calibri" pitchFamily="34" charset="0"/>
                <a:ea typeface="Calibri" pitchFamily="34" charset="-122"/>
                <a:cs typeface="Calibri" pitchFamily="34" charset="-120"/>
              </a:rPr>
              <a:t>Chưa bắt được hoàn toàn quan hệ phi tuyến phức tạp.</a:t>
            </a:r>
            <a:endParaRPr lang="en-US" sz="1800" dirty="0"/>
          </a:p>
          <a:p>
            <a:pPr marL="0" indent="0">
              <a:spcAft>
                <a:spcPts val="1000"/>
              </a:spcAft>
              <a:buNone/>
            </a:pPr>
            <a:r>
              <a:rPr lang="en-US" sz="1800" dirty="0">
                <a:solidFill>
                  <a:srgbClr val="9F1239"/>
                </a:solidFill>
                <a:latin typeface="Calibri" pitchFamily="34" charset="0"/>
                <a:ea typeface="Calibri" pitchFamily="34" charset="-122"/>
                <a:cs typeface="Calibri" pitchFamily="34" charset="-120"/>
              </a:rPr>
              <a:t>Dữ liệu chỉ gồm 1 năm (12/2017 – 11/2018) của một hệ thống tại Seoul.</a:t>
            </a:r>
            <a:endParaRPr lang="en-US" sz="1800" dirty="0"/>
          </a:p>
          <a:p>
            <a:pPr marL="0" indent="0">
              <a:spcAft>
                <a:spcPts val="1000"/>
              </a:spcAft>
              <a:buNone/>
            </a:pPr>
            <a:r>
              <a:rPr lang="en-US" sz="1800" dirty="0">
                <a:solidFill>
                  <a:srgbClr val="9F1239"/>
                </a:solidFill>
                <a:latin typeface="Calibri" pitchFamily="34" charset="0"/>
                <a:ea typeface="Calibri" pitchFamily="34" charset="-122"/>
                <a:cs typeface="Calibri" pitchFamily="34" charset="-120"/>
              </a:rPr>
              <a:t>Dự đoán thấp ở các giờ nhu cầu rất cao.</a:t>
            </a:r>
            <a:endParaRPr lang="en-US" sz="1800" dirty="0"/>
          </a:p>
        </p:txBody>
      </p:sp>
      <p:sp>
        <p:nvSpPr>
          <p:cNvPr id="24" name="Freeform 9">
            <a:extLst>
              <a:ext uri="{FF2B5EF4-FFF2-40B4-BE49-F238E27FC236}">
                <a16:creationId xmlns:a16="http://schemas.microsoft.com/office/drawing/2014/main" id="{4C5E7F4C-E22D-E24D-7C47-0691B8C79F4D}"/>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5"/>
            <a:stretch>
              <a:fillRect b="-51881"/>
            </a:stretch>
          </a:blipFill>
        </p:spPr>
        <p:txBody>
          <a:bodyPr/>
          <a:lstStyle/>
          <a:p>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300" b="1" kern="0" spc="200" dirty="0">
                <a:solidFill>
                  <a:srgbClr val="0284C7"/>
                </a:solidFill>
                <a:latin typeface="Calibri" pitchFamily="34" charset="0"/>
                <a:ea typeface="Calibri" pitchFamily="34" charset="-122"/>
                <a:cs typeface="Calibri" pitchFamily="34" charset="-120"/>
              </a:rPr>
              <a:t>THỰC THI THỰC TẾ</a:t>
            </a:r>
            <a:endParaRPr lang="en-US" sz="1300" dirty="0"/>
          </a:p>
        </p:txBody>
      </p:sp>
      <p:sp>
        <p:nvSpPr>
          <p:cNvPr id="4" name="Text 1"/>
          <p:cNvSpPr txBox="1"/>
          <p:nvPr/>
        </p:nvSpPr>
        <p:spPr>
          <a:xfrm>
            <a:off x="548640" y="658368"/>
            <a:ext cx="11064240" cy="685800"/>
          </a:xfrm>
          <a:prstGeom prst="rect">
            <a:avLst/>
          </a:prstGeom>
          <a:noFill/>
          <a:ln/>
        </p:spPr>
        <p:txBody>
          <a:bodyPr wrap="square" lIns="0" tIns="0" rIns="0" bIns="0" rtlCol="0" anchor="t"/>
          <a:lstStyle/>
          <a:p>
            <a:pPr marL="0" indent="0">
              <a:buNone/>
            </a:pPr>
            <a:r>
              <a:rPr lang="en-US" sz="3000" b="1" dirty="0">
                <a:solidFill>
                  <a:srgbClr val="0F172A"/>
                </a:solidFill>
                <a:latin typeface="Calibri" pitchFamily="34" charset="0"/>
                <a:ea typeface="Calibri" pitchFamily="34" charset="-122"/>
                <a:cs typeface="Calibri" pitchFamily="34" charset="-120"/>
              </a:rPr>
              <a:t>DEMO KẾT QUẢ TRÊN NOTEBOOK</a:t>
            </a:r>
            <a:endParaRPr lang="en-US" sz="3000" dirty="0"/>
          </a:p>
        </p:txBody>
      </p:sp>
      <p:sp>
        <p:nvSpPr>
          <p:cNvPr id="5" name="Shape 2"/>
          <p:cNvSpPr/>
          <p:nvPr/>
        </p:nvSpPr>
        <p:spPr>
          <a:xfrm>
            <a:off x="548640" y="1737360"/>
            <a:ext cx="3546043" cy="2926080"/>
          </a:xfrm>
          <a:prstGeom prst="roundRect">
            <a:avLst>
              <a:gd name="adj" fmla="val 3125"/>
            </a:avLst>
          </a:prstGeom>
          <a:solidFill>
            <a:srgbClr val="F8FAFC"/>
          </a:solidFill>
          <a:ln w="12700">
            <a:solidFill>
              <a:srgbClr val="E2E8F0"/>
            </a:solidFill>
            <a:prstDash val="solid"/>
          </a:ln>
        </p:spPr>
        <p:txBody>
          <a:bodyPr/>
          <a:lstStyle/>
          <a:p>
            <a:endParaRPr lang="en-US"/>
          </a:p>
        </p:txBody>
      </p:sp>
      <p:sp>
        <p:nvSpPr>
          <p:cNvPr id="6" name="Text 3"/>
          <p:cNvSpPr txBox="1"/>
          <p:nvPr/>
        </p:nvSpPr>
        <p:spPr>
          <a:xfrm>
            <a:off x="548640" y="2011680"/>
            <a:ext cx="3546043" cy="548640"/>
          </a:xfrm>
          <a:prstGeom prst="rect">
            <a:avLst/>
          </a:prstGeom>
          <a:noFill/>
          <a:ln/>
        </p:spPr>
        <p:txBody>
          <a:bodyPr wrap="square" lIns="0" tIns="0" rIns="0" bIns="0" rtlCol="0" anchor="ctr"/>
          <a:lstStyle/>
          <a:p>
            <a:pPr marL="0" indent="0" algn="ctr">
              <a:buNone/>
            </a:pPr>
            <a:r>
              <a:rPr lang="en-US" sz="2400" b="1" dirty="0">
                <a:solidFill>
                  <a:srgbClr val="0284C7"/>
                </a:solidFill>
                <a:latin typeface="Courier New" pitchFamily="34" charset="0"/>
                <a:ea typeface="Courier New" pitchFamily="34" charset="-122"/>
                <a:cs typeface="Courier New" pitchFamily="34" charset="-120"/>
              </a:rPr>
              <a:t>PHẦN A</a:t>
            </a:r>
            <a:endParaRPr lang="en-US" sz="2400" dirty="0"/>
          </a:p>
        </p:txBody>
      </p:sp>
      <p:sp>
        <p:nvSpPr>
          <p:cNvPr id="7" name="Text 4"/>
          <p:cNvSpPr txBox="1"/>
          <p:nvPr/>
        </p:nvSpPr>
        <p:spPr>
          <a:xfrm>
            <a:off x="822960" y="2743200"/>
            <a:ext cx="2997403" cy="411480"/>
          </a:xfrm>
          <a:prstGeom prst="rect">
            <a:avLst/>
          </a:prstGeom>
          <a:noFill/>
          <a:ln/>
        </p:spPr>
        <p:txBody>
          <a:bodyPr wrap="square" lIns="0" tIns="0" rIns="0" bIns="0" rtlCol="0" anchor="t"/>
          <a:lstStyle/>
          <a:p>
            <a:pPr marL="0" indent="0" algn="ctr">
              <a:buNone/>
            </a:pPr>
            <a:r>
              <a:rPr lang="en-US" sz="1800" b="1" dirty="0" err="1">
                <a:solidFill>
                  <a:srgbClr val="0F172A"/>
                </a:solidFill>
                <a:latin typeface="Calibri" pitchFamily="34" charset="0"/>
                <a:ea typeface="Calibri" pitchFamily="34" charset="-122"/>
                <a:cs typeface="Calibri" pitchFamily="34" charset="-120"/>
              </a:rPr>
              <a:t>Kiểm</a:t>
            </a:r>
            <a:r>
              <a:rPr lang="en-US" sz="1800" b="1" dirty="0">
                <a:solidFill>
                  <a:srgbClr val="0F172A"/>
                </a:solidFill>
                <a:latin typeface="Calibri" pitchFamily="34" charset="0"/>
                <a:ea typeface="Calibri" pitchFamily="34" charset="-122"/>
                <a:cs typeface="Calibri" pitchFamily="34" charset="-120"/>
              </a:rPr>
              <a:t> tra dữ liệu</a:t>
            </a:r>
            <a:endParaRPr lang="en-US" sz="1800" dirty="0"/>
          </a:p>
        </p:txBody>
      </p:sp>
      <p:sp>
        <p:nvSpPr>
          <p:cNvPr id="8" name="Text 5"/>
          <p:cNvSpPr txBox="1"/>
          <p:nvPr/>
        </p:nvSpPr>
        <p:spPr>
          <a:xfrm>
            <a:off x="822960" y="3291840"/>
            <a:ext cx="2997403" cy="1280160"/>
          </a:xfrm>
          <a:prstGeom prst="rect">
            <a:avLst/>
          </a:prstGeom>
          <a:noFill/>
          <a:ln/>
        </p:spPr>
        <p:txBody>
          <a:bodyPr wrap="square" lIns="0" tIns="0" rIns="0" bIns="0" rtlCol="0" anchor="t"/>
          <a:lstStyle/>
          <a:p>
            <a:pPr marL="0" indent="0" algn="ctr">
              <a:buNone/>
            </a:pPr>
            <a:r>
              <a:rPr lang="en-US" sz="1600" dirty="0">
                <a:solidFill>
                  <a:srgbClr val="475569"/>
                </a:solidFill>
                <a:latin typeface="Calibri" pitchFamily="34" charset="0"/>
                <a:ea typeface="Calibri" pitchFamily="34" charset="-122"/>
                <a:cs typeface="Calibri" pitchFamily="34" charset="-120"/>
              </a:rPr>
              <a:t>Minh chứng 8.760 dòng, loại 295 giờ ngừng hệ thống còn 8.465 giờ.</a:t>
            </a:r>
            <a:endParaRPr lang="en-US" sz="1600" dirty="0"/>
          </a:p>
        </p:txBody>
      </p:sp>
      <p:sp>
        <p:nvSpPr>
          <p:cNvPr id="9" name="Shape 6"/>
          <p:cNvSpPr/>
          <p:nvPr/>
        </p:nvSpPr>
        <p:spPr>
          <a:xfrm>
            <a:off x="4323283" y="1737360"/>
            <a:ext cx="3546043" cy="2926080"/>
          </a:xfrm>
          <a:prstGeom prst="roundRect">
            <a:avLst>
              <a:gd name="adj" fmla="val 3125"/>
            </a:avLst>
          </a:prstGeom>
          <a:solidFill>
            <a:srgbClr val="F8FAFC"/>
          </a:solidFill>
          <a:ln w="12700">
            <a:solidFill>
              <a:srgbClr val="E2E8F0"/>
            </a:solidFill>
            <a:prstDash val="solid"/>
          </a:ln>
        </p:spPr>
        <p:txBody>
          <a:bodyPr/>
          <a:lstStyle/>
          <a:p>
            <a:endParaRPr lang="en-US"/>
          </a:p>
        </p:txBody>
      </p:sp>
      <p:sp>
        <p:nvSpPr>
          <p:cNvPr id="10" name="Text 7"/>
          <p:cNvSpPr txBox="1"/>
          <p:nvPr/>
        </p:nvSpPr>
        <p:spPr>
          <a:xfrm>
            <a:off x="4323283" y="2011680"/>
            <a:ext cx="3546043" cy="548640"/>
          </a:xfrm>
          <a:prstGeom prst="rect">
            <a:avLst/>
          </a:prstGeom>
          <a:noFill/>
          <a:ln/>
        </p:spPr>
        <p:txBody>
          <a:bodyPr wrap="square" lIns="0" tIns="0" rIns="0" bIns="0" rtlCol="0" anchor="ctr"/>
          <a:lstStyle/>
          <a:p>
            <a:pPr marL="0" indent="0" algn="ctr">
              <a:buNone/>
            </a:pPr>
            <a:r>
              <a:rPr lang="en-US" sz="2400" b="1" dirty="0">
                <a:solidFill>
                  <a:srgbClr val="D97706"/>
                </a:solidFill>
                <a:latin typeface="Courier New" pitchFamily="34" charset="0"/>
                <a:ea typeface="Courier New" pitchFamily="34" charset="-122"/>
                <a:cs typeface="Courier New" pitchFamily="34" charset="-120"/>
              </a:rPr>
              <a:t>PHẦN B</a:t>
            </a:r>
            <a:endParaRPr lang="en-US" sz="2400" dirty="0"/>
          </a:p>
        </p:txBody>
      </p:sp>
      <p:sp>
        <p:nvSpPr>
          <p:cNvPr id="11" name="Text 8"/>
          <p:cNvSpPr txBox="1"/>
          <p:nvPr/>
        </p:nvSpPr>
        <p:spPr>
          <a:xfrm>
            <a:off x="4597603" y="2743200"/>
            <a:ext cx="2997403" cy="411480"/>
          </a:xfrm>
          <a:prstGeom prst="rect">
            <a:avLst/>
          </a:prstGeom>
          <a:noFill/>
          <a:ln/>
        </p:spPr>
        <p:txBody>
          <a:bodyPr wrap="square" lIns="0" tIns="0" rIns="0" bIns="0" rtlCol="0" anchor="t"/>
          <a:lstStyle/>
          <a:p>
            <a:pPr marL="0" indent="0" algn="ctr">
              <a:buNone/>
            </a:pPr>
            <a:r>
              <a:rPr lang="en-US" sz="1800" b="1" dirty="0" err="1">
                <a:solidFill>
                  <a:srgbClr val="0F172A"/>
                </a:solidFill>
                <a:latin typeface="Calibri" pitchFamily="34" charset="0"/>
                <a:ea typeface="Calibri" pitchFamily="34" charset="-122"/>
                <a:cs typeface="Calibri" pitchFamily="34" charset="-120"/>
              </a:rPr>
              <a:t>Trực</a:t>
            </a:r>
            <a:r>
              <a:rPr lang="en-US" sz="1800" b="1" dirty="0">
                <a:solidFill>
                  <a:srgbClr val="0F172A"/>
                </a:solidFill>
                <a:latin typeface="Calibri" pitchFamily="34" charset="0"/>
                <a:ea typeface="Calibri" pitchFamily="34" charset="-122"/>
                <a:cs typeface="Calibri" pitchFamily="34" charset="-120"/>
              </a:rPr>
              <a:t> quan EDA</a:t>
            </a:r>
            <a:endParaRPr lang="en-US" sz="1800" dirty="0"/>
          </a:p>
        </p:txBody>
      </p:sp>
      <p:sp>
        <p:nvSpPr>
          <p:cNvPr id="12" name="Text 9"/>
          <p:cNvSpPr txBox="1"/>
          <p:nvPr/>
        </p:nvSpPr>
        <p:spPr>
          <a:xfrm>
            <a:off x="4597603" y="3291840"/>
            <a:ext cx="2997403" cy="1280160"/>
          </a:xfrm>
          <a:prstGeom prst="rect">
            <a:avLst/>
          </a:prstGeom>
          <a:noFill/>
          <a:ln/>
        </p:spPr>
        <p:txBody>
          <a:bodyPr wrap="square" lIns="0" tIns="0" rIns="0" bIns="0" rtlCol="0" anchor="t"/>
          <a:lstStyle/>
          <a:p>
            <a:pPr marL="0" indent="0" algn="ctr">
              <a:buNone/>
            </a:pPr>
            <a:r>
              <a:rPr lang="en-US" sz="1600" dirty="0">
                <a:solidFill>
                  <a:srgbClr val="475569"/>
                </a:solidFill>
                <a:latin typeface="Calibri" pitchFamily="34" charset="0"/>
                <a:ea typeface="Calibri" pitchFamily="34" charset="-122"/>
                <a:cs typeface="Calibri" pitchFamily="34" charset="-120"/>
              </a:rPr>
              <a:t>Biểu đồ 2 đỉnh theo giờ, boxplot mùa và bảng kết quả ANOVA.</a:t>
            </a:r>
            <a:endParaRPr lang="en-US" sz="1600" dirty="0"/>
          </a:p>
        </p:txBody>
      </p:sp>
      <p:sp>
        <p:nvSpPr>
          <p:cNvPr id="13" name="Shape 10"/>
          <p:cNvSpPr/>
          <p:nvPr/>
        </p:nvSpPr>
        <p:spPr>
          <a:xfrm>
            <a:off x="8097926" y="1737360"/>
            <a:ext cx="3546043" cy="2926080"/>
          </a:xfrm>
          <a:prstGeom prst="roundRect">
            <a:avLst>
              <a:gd name="adj" fmla="val 3125"/>
            </a:avLst>
          </a:prstGeom>
          <a:solidFill>
            <a:srgbClr val="F8FAFC"/>
          </a:solidFill>
          <a:ln w="12700">
            <a:solidFill>
              <a:srgbClr val="E2E8F0"/>
            </a:solidFill>
            <a:prstDash val="solid"/>
          </a:ln>
        </p:spPr>
        <p:txBody>
          <a:bodyPr/>
          <a:lstStyle/>
          <a:p>
            <a:endParaRPr lang="en-US"/>
          </a:p>
        </p:txBody>
      </p:sp>
      <p:sp>
        <p:nvSpPr>
          <p:cNvPr id="14" name="Text 11"/>
          <p:cNvSpPr txBox="1"/>
          <p:nvPr/>
        </p:nvSpPr>
        <p:spPr>
          <a:xfrm>
            <a:off x="8097926" y="2011680"/>
            <a:ext cx="3546043" cy="548640"/>
          </a:xfrm>
          <a:prstGeom prst="rect">
            <a:avLst/>
          </a:prstGeom>
          <a:noFill/>
          <a:ln/>
        </p:spPr>
        <p:txBody>
          <a:bodyPr wrap="square" lIns="0" tIns="0" rIns="0" bIns="0" rtlCol="0" anchor="ctr"/>
          <a:lstStyle/>
          <a:p>
            <a:pPr marL="0" indent="0" algn="ctr">
              <a:buNone/>
            </a:pPr>
            <a:r>
              <a:rPr lang="en-US" sz="2400" b="1" dirty="0">
                <a:solidFill>
                  <a:srgbClr val="9333EA"/>
                </a:solidFill>
                <a:latin typeface="Courier New" pitchFamily="34" charset="0"/>
                <a:ea typeface="Courier New" pitchFamily="34" charset="-122"/>
                <a:cs typeface="Courier New" pitchFamily="34" charset="-120"/>
              </a:rPr>
              <a:t>PHẦN C</a:t>
            </a:r>
            <a:endParaRPr lang="en-US" sz="2400" dirty="0"/>
          </a:p>
        </p:txBody>
      </p:sp>
      <p:sp>
        <p:nvSpPr>
          <p:cNvPr id="15" name="Text 12"/>
          <p:cNvSpPr txBox="1"/>
          <p:nvPr/>
        </p:nvSpPr>
        <p:spPr>
          <a:xfrm>
            <a:off x="8372246" y="2743200"/>
            <a:ext cx="2997403" cy="411480"/>
          </a:xfrm>
          <a:prstGeom prst="rect">
            <a:avLst/>
          </a:prstGeom>
          <a:noFill/>
          <a:ln/>
        </p:spPr>
        <p:txBody>
          <a:bodyPr wrap="square" lIns="0" tIns="0" rIns="0" bIns="0" rtlCol="0" anchor="t"/>
          <a:lstStyle/>
          <a:p>
            <a:pPr marL="0" indent="0" algn="ctr">
              <a:buNone/>
            </a:pPr>
            <a:r>
              <a:rPr lang="en-US" sz="1800" b="1" dirty="0" err="1">
                <a:solidFill>
                  <a:srgbClr val="0F172A"/>
                </a:solidFill>
                <a:latin typeface="Calibri" pitchFamily="34" charset="0"/>
                <a:ea typeface="Calibri" pitchFamily="34" charset="-122"/>
                <a:cs typeface="Calibri" pitchFamily="34" charset="-120"/>
              </a:rPr>
              <a:t>Kết</a:t>
            </a:r>
            <a:r>
              <a:rPr lang="en-US" sz="1800" b="1" dirty="0">
                <a:solidFill>
                  <a:srgbClr val="0F172A"/>
                </a:solidFill>
                <a:latin typeface="Calibri" pitchFamily="34" charset="0"/>
                <a:ea typeface="Calibri" pitchFamily="34" charset="-122"/>
                <a:cs typeface="Calibri" pitchFamily="34" charset="-120"/>
              </a:rPr>
              <a:t> quả mô hình</a:t>
            </a:r>
            <a:endParaRPr lang="en-US" sz="1800" dirty="0"/>
          </a:p>
        </p:txBody>
      </p:sp>
      <p:sp>
        <p:nvSpPr>
          <p:cNvPr id="16" name="Text 13"/>
          <p:cNvSpPr txBox="1"/>
          <p:nvPr/>
        </p:nvSpPr>
        <p:spPr>
          <a:xfrm>
            <a:off x="8372246" y="3291840"/>
            <a:ext cx="2997403" cy="1280160"/>
          </a:xfrm>
          <a:prstGeom prst="rect">
            <a:avLst/>
          </a:prstGeom>
          <a:noFill/>
          <a:ln/>
        </p:spPr>
        <p:txBody>
          <a:bodyPr wrap="square" lIns="0" tIns="0" rIns="0" bIns="0" rtlCol="0" anchor="t"/>
          <a:lstStyle/>
          <a:p>
            <a:pPr marL="0" indent="0" algn="ctr">
              <a:buNone/>
            </a:pPr>
            <a:r>
              <a:rPr lang="en-US" sz="1600" dirty="0">
                <a:solidFill>
                  <a:srgbClr val="475569"/>
                </a:solidFill>
                <a:latin typeface="Calibri" pitchFamily="34" charset="0"/>
                <a:ea typeface="Calibri" pitchFamily="34" charset="-122"/>
                <a:cs typeface="Calibri" pitchFamily="34" charset="-120"/>
              </a:rPr>
              <a:t>Bảng so sánh chỉ số 3 mô hình, biểu đồ dự đoán so với thực tế.</a:t>
            </a:r>
            <a:endParaRPr lang="en-US" sz="1600" dirty="0"/>
          </a:p>
        </p:txBody>
      </p:sp>
      <p:sp>
        <p:nvSpPr>
          <p:cNvPr id="19" name="Freeform 9">
            <a:extLst>
              <a:ext uri="{FF2B5EF4-FFF2-40B4-BE49-F238E27FC236}">
                <a16:creationId xmlns:a16="http://schemas.microsoft.com/office/drawing/2014/main" id="{D66B4773-E5BF-EB0E-AE86-E377649B00FB}"/>
              </a:ext>
            </a:extLst>
          </p:cNvPr>
          <p:cNvSpPr/>
          <p:nvPr/>
        </p:nvSpPr>
        <p:spPr>
          <a:xfrm>
            <a:off x="10727871" y="448270"/>
            <a:ext cx="885009" cy="552998"/>
          </a:xfrm>
          <a:custGeom>
            <a:avLst/>
            <a:gdLst/>
            <a:ahLst/>
            <a:cxnLst/>
            <a:rect l="l" t="t" r="r" b="b"/>
            <a:pathLst>
              <a:path w="3499192" h="2755024">
                <a:moveTo>
                  <a:pt x="0" y="0"/>
                </a:moveTo>
                <a:lnTo>
                  <a:pt x="3499192" y="0"/>
                </a:lnTo>
                <a:lnTo>
                  <a:pt x="3499192" y="2755024"/>
                </a:lnTo>
                <a:lnTo>
                  <a:pt x="0" y="2755024"/>
                </a:lnTo>
                <a:lnTo>
                  <a:pt x="0" y="0"/>
                </a:lnTo>
                <a:close/>
              </a:path>
            </a:pathLst>
          </a:custGeom>
          <a:blipFill>
            <a:blip r:embed="rId3"/>
            <a:stretch>
              <a:fillRect b="-51881"/>
            </a:stretch>
          </a:blipFill>
        </p:spPr>
        <p:txBody>
          <a:bodyPr/>
          <a:lstStyle/>
          <a:p>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hape 0"/>
          <p:cNvSpPr/>
          <p:nvPr/>
        </p:nvSpPr>
        <p:spPr>
          <a:xfrm>
            <a:off x="5641848" y="1783080"/>
            <a:ext cx="914400" cy="914400"/>
          </a:xfrm>
          <a:prstGeom prst="ellipse">
            <a:avLst/>
          </a:prstGeom>
          <a:solidFill>
            <a:srgbClr val="1E293B"/>
          </a:solidFill>
          <a:ln w="12700">
            <a:solidFill>
              <a:srgbClr val="1E293B"/>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5897880" y="2039112"/>
            <a:ext cx="402336" cy="402336"/>
          </a:xfrm>
          <a:prstGeom prst="rect">
            <a:avLst/>
          </a:prstGeom>
        </p:spPr>
      </p:pic>
      <p:sp>
        <p:nvSpPr>
          <p:cNvPr id="5" name="Text 1"/>
          <p:cNvSpPr txBox="1"/>
          <p:nvPr/>
        </p:nvSpPr>
        <p:spPr>
          <a:xfrm>
            <a:off x="548640" y="3017520"/>
            <a:ext cx="11091672"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CẢM ƠN THẦY ĐÃ LẮNG NGHE!</a:t>
            </a:r>
            <a:endParaRPr lang="en-US" sz="4400" dirty="0"/>
          </a:p>
        </p:txBody>
      </p:sp>
      <p:sp>
        <p:nvSpPr>
          <p:cNvPr id="6" name="Text 2"/>
          <p:cNvSpPr txBox="1"/>
          <p:nvPr/>
        </p:nvSpPr>
        <p:spPr>
          <a:xfrm>
            <a:off x="548640" y="3931920"/>
            <a:ext cx="11091672" cy="457200"/>
          </a:xfrm>
          <a:prstGeom prst="rect">
            <a:avLst/>
          </a:prstGeom>
          <a:noFill/>
          <a:ln/>
        </p:spPr>
        <p:txBody>
          <a:bodyPr wrap="square" lIns="0" tIns="0" rIns="0" bIns="0" rtlCol="0" anchor="t"/>
          <a:lstStyle/>
          <a:p>
            <a:pPr marL="0" indent="0" algn="ctr">
              <a:buNone/>
            </a:pPr>
            <a:r>
              <a:rPr lang="en-US" sz="2000" dirty="0">
                <a:solidFill>
                  <a:srgbClr val="94A3B8"/>
                </a:solidFill>
                <a:latin typeface="Calibri" pitchFamily="34" charset="0"/>
                <a:ea typeface="Calibri" pitchFamily="34" charset="-122"/>
                <a:cs typeface="Calibri" pitchFamily="34" charset="-120"/>
              </a:rPr>
              <a:t>Đồ án Phân tích nhu cầu thuê xe đạp công cộng tại Seoul — Nhóm 23</a:t>
            </a:r>
            <a:endParaRPr lang="en-US" sz="2000" dirty="0"/>
          </a:p>
        </p:txBody>
      </p:sp>
      <p:sp>
        <p:nvSpPr>
          <p:cNvPr id="7" name="Shape 3"/>
          <p:cNvSpPr/>
          <p:nvPr/>
        </p:nvSpPr>
        <p:spPr>
          <a:xfrm>
            <a:off x="4480560" y="4754880"/>
            <a:ext cx="3227832" cy="548640"/>
          </a:xfrm>
          <a:prstGeom prst="roundRect">
            <a:avLst>
              <a:gd name="adj" fmla="val 50000"/>
            </a:avLst>
          </a:prstGeom>
          <a:solidFill>
            <a:srgbClr val="1E293B"/>
          </a:solidFill>
          <a:ln w="12700">
            <a:solidFill>
              <a:srgbClr val="1E293B"/>
            </a:solidFill>
            <a:prstDash val="solid"/>
          </a:ln>
        </p:spPr>
        <p:txBody>
          <a:bodyPr/>
          <a:lstStyle/>
          <a:p>
            <a:endParaRPr lang="en-US"/>
          </a:p>
        </p:txBody>
      </p:sp>
      <p:sp>
        <p:nvSpPr>
          <p:cNvPr id="8" name="Text 4"/>
          <p:cNvSpPr txBox="1"/>
          <p:nvPr/>
        </p:nvSpPr>
        <p:spPr>
          <a:xfrm>
            <a:off x="4480560" y="4754880"/>
            <a:ext cx="3227832" cy="548640"/>
          </a:xfrm>
          <a:prstGeom prst="rect">
            <a:avLst/>
          </a:prstGeom>
          <a:noFill/>
          <a:ln/>
        </p:spPr>
        <p:txBody>
          <a:bodyPr wrap="square" lIns="0" tIns="0" rIns="0" bIns="0" rtlCol="0" anchor="ctr"/>
          <a:lstStyle/>
          <a:p>
            <a:pPr marL="0" indent="0" algn="ctr">
              <a:buNone/>
            </a:pPr>
            <a:r>
              <a:rPr lang="en-US" sz="1500" b="1" dirty="0">
                <a:solidFill>
                  <a:srgbClr val="38BDF8"/>
                </a:solidFill>
                <a:latin typeface="Calibri" pitchFamily="34" charset="0"/>
                <a:ea typeface="Calibri" pitchFamily="34" charset="-122"/>
                <a:cs typeface="Calibri" pitchFamily="34" charset="-120"/>
              </a:rPr>
              <a:t>HẾT PHẦN TRÌNH BÀY</a:t>
            </a:r>
            <a:endParaRPr lang="en-US" sz="1500" dirty="0"/>
          </a:p>
        </p:txBody>
      </p:sp>
    </p:spTree>
  </p:cSld>
  <p:clrMapOvr>
    <a:masterClrMapping/>
  </p:clrMapOvr>
</p:sld>
</file>

<file path=ppt/theme/theme1.xml><?xml version="1.0" encoding="utf-8"?>
<a:theme xmlns:a="http://schemas.openxmlformats.org/drawingml/2006/main" name="Nhom23">
  <a:themeElements>
    <a:clrScheme name="Nhom23">
      <a:dk1>
        <a:srgbClr val="0F172A"/>
      </a:dk1>
      <a:lt1>
        <a:srgbClr val="FFFFFF"/>
      </a:lt1>
      <a:dk2>
        <a:srgbClr val="475569"/>
      </a:dk2>
      <a:lt2>
        <a:srgbClr val="F8FAFC"/>
      </a:lt2>
      <a:accent1>
        <a:srgbClr val="0284C7"/>
      </a:accent1>
      <a:accent2>
        <a:srgbClr val="D97706"/>
      </a:accent2>
      <a:accent3>
        <a:srgbClr val="9333EA"/>
      </a:accent3>
      <a:accent4>
        <a:srgbClr val="15803D"/>
      </a:accent4>
      <a:accent5>
        <a:srgbClr val="BE123C"/>
      </a:accent5>
      <a:accent6>
        <a:srgbClr val="0D9488"/>
      </a:accent6>
      <a:hlink>
        <a:srgbClr val="0284C7"/>
      </a:hlink>
      <a:folHlink>
        <a:srgbClr val="9333EA"/>
      </a:folHlink>
    </a:clrScheme>
    <a:fontScheme name="Nhom23">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4108</Words>
  <Application>Microsoft Office PowerPoint</Application>
  <PresentationFormat>Widescreen</PresentationFormat>
  <Paragraphs>285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Nhom23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nhu cầu thuê xe đạp công cộng tại Seoul – Nhóm 23</dc:title>
  <dc:subject>PptxGenJS Presentation</dc:subject>
  <dc:creator>PptxGenJS</dc:creator>
  <cp:lastModifiedBy>Nguyen Hien</cp:lastModifiedBy>
  <cp:revision>6</cp:revision>
  <dcterms:created xsi:type="dcterms:W3CDTF">2026-10-10T00:21:55Z</dcterms:created>
  <dcterms:modified xsi:type="dcterms:W3CDTF">2026-10-13T03:16:53Z</dcterms:modified>
</cp:coreProperties>
</file>